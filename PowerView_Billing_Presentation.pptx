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-1371600"/>
            <a:ext cx="5486400" cy="5486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0" y="-914400"/>
            <a:ext cx="4572000" cy="4572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D4E8"/>
                </a:solidFill>
                <a:latin typeface="Segoe UI"/>
              </a:rPr>
              <a:t>⚡ PowerView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Segoe UI"/>
              </a:rPr>
              <a:t>Billing &amp; Tiers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0C4DE"/>
                </a:solidFill>
                <a:latin typeface="Sarabun"/>
              </a:rPr>
              <a:t>สถาปัตยกรรมระบบเก็บค่าบริการ &amp; แพ็คเกจ IoT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2468880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566160"/>
            <a:ext cx="24688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3657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D4E8"/>
                </a:solidFill>
                <a:latin typeface="Segoe UI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4297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Segoe UI"/>
              </a:rPr>
              <a:t>Core Architecture
สมบูรณ์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3566160"/>
            <a:ext cx="2468880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3566160"/>
            <a:ext cx="24688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3657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D4E8"/>
                </a:solidFill>
                <a:latin typeface="Segoe UI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297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Segoe UI"/>
              </a:rPr>
              <a:t>InfluxDB Buckets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566160"/>
            <a:ext cx="2468880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566160"/>
            <a:ext cx="24688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657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D4E8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297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Segoe UI"/>
              </a:rPr>
              <a:t>Service Tiers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3566160"/>
            <a:ext cx="2468880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9680" y="3566160"/>
            <a:ext cx="246888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19" y="3657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D4E8"/>
                </a:solidFill>
                <a:latin typeface="Segoe UI"/>
              </a:rPr>
              <a:t>95%+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4297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Segoe UI"/>
              </a:rPr>
              <a:t>Profit Margin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July 2026  |  R&amp;D Program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1. ภาพรวมระบบปัจจุบัน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Current System Architecture (~70% Complete)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73152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64008" cy="9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C800"/>
                </a:solidFill>
                <a:latin typeface="Segoe UI"/>
              </a:rPr>
              <a:t>🔌 Hardware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PowerView Device 1 … 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560320"/>
            <a:ext cx="73152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560320"/>
            <a:ext cx="64008" cy="9144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3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BFF"/>
                </a:solidFill>
                <a:latin typeface="Segoe UI"/>
              </a:rPr>
              <a:t>📡 Data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1752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MQTT Broker (Mosquitto) + Telegraf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49039"/>
            <a:ext cx="73152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749039"/>
            <a:ext cx="64008" cy="91440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79475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96"/>
                </a:solidFill>
                <a:latin typeface="Segoe UI"/>
              </a:rPr>
              <a:t>💾 Storage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InfluxDB (Time-Series)  +  PostgreSQL (Relational)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92040"/>
            <a:ext cx="73152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4892040"/>
            <a:ext cx="64008" cy="91440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5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E8"/>
                </a:solidFill>
                <a:latin typeface="Segoe UI"/>
              </a:rPr>
              <a:t>📱 Application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34924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egoe UI"/>
              </a:rPr>
              <a:t>Core API (FastAPI)  ·  Mobile App  ·  Web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2860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8BFF"/>
                </a:solidFill>
                <a:latin typeface="Segoe UI"/>
              </a:rP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474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8BFF"/>
                </a:solidFill>
                <a:latin typeface="Segoe UI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63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8BFF"/>
                </a:solidFill>
                <a:latin typeface="Segoe UI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1371600"/>
            <a:ext cx="4114800" cy="45720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0" y="1371600"/>
            <a:ext cx="411480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146304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D4E8"/>
                </a:solidFill>
                <a:latin typeface="Sarabun"/>
              </a:rPr>
              <a:t>จุดเด่นของระบบ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Polyglot Database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แยก DB ตามหน้าที่ InfluxDB + PostgreSQL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MQTT + Telegraf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รับโหลดระดับ Enterprise-grade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Docker on VPS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Self-hosted Hostinger KVM 2 ต้นทุนต่ำ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JWT Auth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Email / Google Sign-In รองรับ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On-demand Billing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API คำนวณค่าไฟ MEA ทันที</a:t>
            </a:r>
          </a:p>
          <a:p>
            <a:r>
              <a:rPr sz="1300" b="1">
                <a:solidFill>
                  <a:srgbClr val="00E596"/>
                </a:solidFill>
                <a:latin typeface="Segoe UI"/>
              </a:rPr>
              <a:t>✅ Real-time WebSocket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MQTT → App มือถือ Latency ต่ำ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2. จุดเปลี่ยนผ่าน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arabun"/>
              </a:rPr>
              <a:t>จาก IoT Platform → Commercial SaaS Product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03520" cy="43891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30352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C800"/>
                </a:solidFill>
              </a:rPr>
              <a:t>🏗️ สิ่งที่มีแล้ว (Done)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ระบบรับข้อมูลเซ็นเซอร์ Real-time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ฐานข้อมูล InfluxDB + PostgreSQL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• Core API (FastAPI) + JWT Auth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Mobile App เชื่อมต่อ WebSocket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คำนวณค่าไฟ MEA ทุกประเภท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371600"/>
            <a:ext cx="5303520" cy="43891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371600"/>
            <a:ext cx="530352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D4E8"/>
                </a:solidFill>
              </a:rPr>
              <a:t>💰 สิ่งที่กำลังออกแบบ (Billing)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ระบบ Subscription Tier (Free/Pro/Enterprise)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Multi-Bucket Routing ตาม Tier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• Data Migration Background Job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• Stripe Payment Gateway Integration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arabun"/>
              </a:rPr>
              <a:t>• PostgreSQL Schema สำหรับ Billing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• Cloudflare R2 Backup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1089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C800"/>
                </a:solidFill>
                <a:latin typeface="Segoe U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931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0C4DE"/>
                </a:solidFill>
                <a:latin typeface="Sarabun"/>
              </a:rPr>
              <a:t>โจทย์ที่ยากที่สุด: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29768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C800"/>
                </a:solidFill>
                <a:latin typeface="Sarabun"/>
              </a:rPr>
              <a:t>บริหาร
KVM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3. โมเดลราคา (Pricing Model)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Hybrid Per-Device + Retention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566160" cy="512064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3566160" cy="73152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B0C4DE"/>
                </a:solidFill>
                <a:latin typeface="Segoe UI"/>
              </a:rPr>
              <a:t>🆓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ฟรี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603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Segoe UI"/>
              </a:rPr>
              <a:t>0 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71800"/>
            <a:ext cx="3200400" cy="274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30632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Real-time ดูสดได้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520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7 วัน (1 วินาที)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3977639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30 วัน (1 นาที)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434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ย้อนหลัง 1 ปี (1 ชั่วโมง)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4892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สูงสุด 3 เครื่อง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1325880"/>
            <a:ext cx="3566160" cy="512064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59" y="1325880"/>
            <a:ext cx="3566160" cy="73152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399" y="137160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⭐ 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1874519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99 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399" y="25603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Segoe UI"/>
              </a:rPr>
              <a:t>/device/เดือน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971800"/>
            <a:ext cx="3200400" cy="274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0632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Real-time ดูสดได้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520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90 วัน (1 วินาที)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977639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1 ปี (1 นาที)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434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Export CSV + API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892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แจ้งเตือนผิดปกติ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325880"/>
            <a:ext cx="3566160" cy="512064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1325880"/>
            <a:ext cx="3566160" cy="73152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37160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800"/>
                </a:solidFill>
                <a:latin typeface="Segoe UI"/>
              </a:rPr>
              <a:t>🏢 ENTERPRISE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1874519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299 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5603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Segoe UI"/>
              </a:rPr>
              <a:t>/device/เดือน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2971800"/>
            <a:ext cx="3200400" cy="274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60" y="30632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Real-time ดูสดได้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3520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 1 ปี (1 วินาที)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977639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arabun"/>
              </a:rPr>
              <a:t>✓  ย้อนหลังไม่จำกัด (1 นาที)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4434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Custom Rules + Full MEA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892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egoe UI"/>
              </a:rPr>
              <a:t>✓  Priority Support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41908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D4E8"/>
                </a:solidFill>
                <a:latin typeface="Sarabun"/>
              </a:rPr>
              <a:t>ค่าบริการ  =  จำนวน Device  ×  ราคาต่อ Device/เดือน   |   Free Tier ช่วยเพิ่มยอดขาย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4. วิเคราะห์ต้นทุน &amp; กำไร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Cost &amp; Profit Margin per Device per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950976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egoe UI"/>
              </a:rPr>
              <a:t>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50876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egoe UI"/>
              </a:rPr>
              <a:t>Storage/เครื่อง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59" y="15087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egoe UI"/>
              </a:rPr>
              <a:t>ต้นทุน VPS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79" y="15087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arabun"/>
              </a:rPr>
              <a:t>รายรับ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79" y="15087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arabun"/>
              </a:rPr>
              <a:t>กำไร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5087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0C4DE"/>
                </a:solidFill>
                <a:latin typeface="Segoe UI"/>
              </a:rPr>
              <a:t>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86000"/>
            <a:ext cx="9509760" cy="8686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4231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🆓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42316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52 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59" y="24231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~0.40 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79" y="24231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0 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24231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-0.40 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4231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4DE"/>
                </a:solidFill>
                <a:latin typeface="Segoe UI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00400"/>
            <a:ext cx="9509760" cy="8686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3375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⭐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333756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658 MB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59" y="33375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~3.20 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79" y="33375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99 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79" y="33375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95.80 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3375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E596"/>
                </a:solidFill>
                <a:latin typeface="Segoe UI"/>
              </a:rP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114800"/>
            <a:ext cx="9509760" cy="8686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2519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🏢 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425196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2,704 MB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59" y="42519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~16.0 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79" y="42519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299 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79" y="425196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283.0 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25196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C800"/>
                </a:solidFill>
                <a:latin typeface="Segoe UI"/>
              </a:rPr>
              <a:t>94%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074920"/>
            <a:ext cx="11612880" cy="13716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5074920"/>
            <a:ext cx="54864" cy="137160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120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  <a:latin typeface="Sarabun"/>
              </a:rPr>
              <a:t>⚠️  CONFIDENTIAL — ข้อมูลต้นทุนภายใน ห้ามเปิดเผยต่อลูกค้า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Sarabun"/>
              </a:rPr>
              <a:t>Free Tier = ต้นทุนการตลาด (Customer Acquisition Cost) — ช่วยเพิ่มยอดขาย Hardware ไม่ใช่ตัวขาดทุน
Pro Tier  = Cash Cow หลักของธุรกิจ  |  ต้นทุน VPS ทั้งระบบ Hostinger KVM 2 = 419 ฿/เดือน รับได้ 1,000 เครื่อง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5. Multi-Bucket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arabun"/>
              </a:rPr>
              <a:t>กลยุทธ์การจัดการ InfluxDB — Zero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365760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4864" cy="52120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4D6D"/>
                </a:solidFill>
              </a:rPr>
              <a:t>❌ ทำไมไม่ลบข้อมูลเอง?</a:t>
            </a:r>
          </a:p>
          <a:p>
            <a:r>
              <a:rPr sz="1300" b="1">
                <a:solidFill>
                  <a:srgbClr val="FF4D6D"/>
                </a:solidFill>
              </a:rPr>
              <a:t>• influx delete = กิน CPU สูงสุด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ไล่ลบทีละบรรทัด ทุกคืนตี 3 เซิร์ฟเวอร์ค้าง</a:t>
            </a:r>
          </a:p>
          <a:p>
            <a:r>
              <a:rPr sz="1300" b="1">
                <a:solidFill>
                  <a:srgbClr val="FF4D6D"/>
                </a:solidFill>
              </a:rPr>
              <a:t>• 1 Device = 1 Bucket ก็ไม่ได้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1,000 เครื่อง = 1,000 Buckets → RAM เต็ม OOM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371600"/>
            <a:ext cx="457200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1371600"/>
            <a:ext cx="4572000" cy="54864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4173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E8"/>
                </a:solidFill>
                <a:latin typeface="Segoe UI"/>
              </a:rPr>
              <a:t>✅ 9 Buckets Fixed — ต่อให้ 100,000 เครื่อง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01168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011680"/>
            <a:ext cx="1417320" cy="4572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59" y="21031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Segoe UI"/>
              </a:rPr>
              <a:t>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59" y="26060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7 วัน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29718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7568" y="201168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87568" y="2011680"/>
            <a:ext cx="1417320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33288" y="21031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BFF"/>
                </a:solidFill>
                <a:latin typeface="Segoe UI"/>
              </a:rPr>
              <a:t>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33288" y="26060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90 วัน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3288" y="29718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68896" y="201168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68896" y="2011680"/>
            <a:ext cx="1417320" cy="45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14616" y="21031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800"/>
                </a:solidFill>
                <a:latin typeface="Segoe UI"/>
              </a:rPr>
              <a:t>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26060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365 วัน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29718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47472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3474720"/>
            <a:ext cx="1417320" cy="4572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59" y="356616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Segoe UI"/>
              </a:rPr>
              <a:t>1m_free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40690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30 วัน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59" y="44348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87568" y="347472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87568" y="3474720"/>
            <a:ext cx="1417320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33288" y="356616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BFF"/>
                </a:solidFill>
                <a:latin typeface="Segoe UI"/>
              </a:rPr>
              <a:t>1m_pro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33288" y="40690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 ปี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33288" y="44348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68896" y="347472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68896" y="3474720"/>
            <a:ext cx="1417320" cy="45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14616" y="356616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800"/>
                </a:solidFill>
                <a:latin typeface="Segoe UI"/>
              </a:rPr>
              <a:t>1m_enterprise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14616" y="40690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4616" y="44348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493776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06240" y="4937760"/>
            <a:ext cx="1417320" cy="4572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59" y="502920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Segoe UI"/>
              </a:rPr>
              <a:t>1h_free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59" y="553212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 ปี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59" y="58978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87568" y="493776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87568" y="4937760"/>
            <a:ext cx="1417320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33288" y="502920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BFF"/>
                </a:solidFill>
                <a:latin typeface="Segoe UI"/>
              </a:rPr>
              <a:t>1h_pro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33288" y="553212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 ปี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33288" y="58978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68896" y="4937760"/>
            <a:ext cx="1417320" cy="1325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68896" y="4937760"/>
            <a:ext cx="1417320" cy="45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14616" y="502920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800"/>
                </a:solidFill>
                <a:latin typeface="Segoe UI"/>
              </a:rPr>
              <a:t>1h_enterprise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14616" y="553212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∞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14616" y="58978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C4DE"/>
                </a:solidFill>
                <a:latin typeface="Segoe UI"/>
              </a:rPr>
              <a:t>Retention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869680" y="1371600"/>
            <a:ext cx="301752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869680" y="1371600"/>
            <a:ext cx="301752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06840" y="1463040"/>
            <a:ext cx="2834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E596"/>
                </a:solidFill>
              </a:rPr>
              <a:t>✅ ข้อดี Multi-Bucket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Shard Dropping: ลบทั้งก้อน ไม่กิน CPU เลย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Zero Maintenance: ไม่ต้องเขียน Cron ลบ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Scale หลักแสนเครื่อง โครงสร้างไม่เปลี่ยน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• RAM ไม่บวม: 9 Buckets ≈ Kilobytes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6. ความไร้รอยต่อ (Seamless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arabun"/>
              </a:rPr>
              <a:t>Upgrade/Downgrade โดยไม่มีกราฟแหว่ง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1612880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96"/>
                </a:solidFill>
                <a:latin typeface="Sarabun"/>
              </a:rPr>
              <a:t>🟢 กรณีอัปเกรด (Free → Pro)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210312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E596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ชำระเงิน
สำเร็จ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2148840"/>
            <a:ext cx="228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8608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78608" y="1828800"/>
            <a:ext cx="210312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4327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8B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4327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API → Redis
อัปเดต Cache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7" y="2148840"/>
            <a:ext cx="228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82896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82896" y="1828800"/>
            <a:ext cx="210312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8616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8BFF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Telegraf
เขียนถัง Pro ทันที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2148840"/>
            <a:ext cx="228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87184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87184" y="1828800"/>
            <a:ext cx="210312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C800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2904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Trigger
Background Job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2148840"/>
            <a:ext cx="228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91472" y="1828800"/>
            <a:ext cx="210312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91472" y="1828800"/>
            <a:ext cx="210312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7192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C800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37192" y="2286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Job ก๊อปปี้
ข้อมูลเก่า → Pro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926080"/>
            <a:ext cx="11612880" cy="5029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2926080"/>
            <a:ext cx="54864" cy="5029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971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D4E8"/>
                </a:solidFill>
                <a:latin typeface="Sarabun"/>
              </a:rPr>
              <a:t>💡 ระหว่างรอ Job: Backend API ใช้ union() ดึงข้อมูลจากทั้ง 2 ถังพร้อมกัน → กราฟต่อเนื่อง 100% ทันที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520440"/>
            <a:ext cx="11612880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538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  <a:latin typeface="Sarabun"/>
              </a:rPr>
              <a:t>🔴 กรณีดาวน์เกรด / หมดอายุ (Pro → Free)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3977639"/>
            <a:ext cx="210312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4D6D"/>
                </a:solidFill>
                <a:latin typeface="Segoe UI"/>
              </a:rPr>
              <a:t>Cron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ตรวจพบหมดอายุ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39" y="42519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78608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78608" y="3977639"/>
            <a:ext cx="210312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24327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4D6D"/>
                </a:solidFill>
                <a:latin typeface="Segoe UI"/>
              </a:rPr>
              <a:t>Redis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24327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อัปเดต Cache
= Free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42519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82896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882896" y="3977639"/>
            <a:ext cx="210312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28616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4D6D"/>
                </a:solidFill>
                <a:latin typeface="Segoe UI"/>
              </a:rPr>
              <a:t>Telegraf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28616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เขียนถัง Free
ทันที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86016" y="42519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87184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87184" y="3977639"/>
            <a:ext cx="2103120" cy="54864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32904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0C4DE"/>
                </a:solidFill>
                <a:latin typeface="Segoe UI"/>
              </a:rPr>
              <a:t>Pro Bucket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32904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ปล่อยทิ้ง
Retention ลบเอง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90304" y="42519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Segoe UI"/>
              </a:rPr>
              <a:t>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91472" y="3977639"/>
            <a:ext cx="210312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91472" y="3977639"/>
            <a:ext cx="210312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37192" y="4005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C800"/>
                </a:solidFill>
                <a:latin typeface="Segoe UI"/>
              </a:rPr>
              <a:t>union()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37192" y="4343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arabun"/>
              </a:rPr>
              <a:t>กราฟต่อเนื่อง
อีก 7 วัน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029200"/>
            <a:ext cx="11612880" cy="164592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320" y="5029200"/>
            <a:ext cx="54864" cy="16459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074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C800"/>
                </a:solidFill>
                <a:latin typeface="Segoe UI"/>
              </a:rPr>
              <a:t>⚙️ Background Job (Worker Process)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54864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4DE"/>
                </a:solidFill>
                <a:latin typeface="Sarabun"/>
              </a:rPr>
              <a:t>Main API  →  โยนใบสั่งงานลง Redis Queue  →  Worker หยิบงาน  →  InfluxDB ก๊อปปี้ข้อมูล  →  PostgreSQL บันทึก migration_status = completed
เหตุผล: ป้องกัน Main API ค้างตอนย้ายข้อมูล 658 MB (Pro→Enterprise)  |  ไลบรารีแนะนำ: BullMQ (Node.js) / Celery (Python)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7. โครงสร้างพื้นฐาน &amp;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Hostinger KVM VPS + Cloudflare R2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6858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arabun"/>
              </a:rPr>
              <a:t>แพ็คเกจ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3352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egoe UI"/>
              </a:rPr>
              <a:t>vCPU / 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6664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egoe UI"/>
              </a:rPr>
              <a:t>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9975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arabun"/>
              </a:rPr>
              <a:t>ราคา/เดือน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800"/>
                </a:solidFill>
                <a:latin typeface="Sarabun"/>
              </a:rPr>
              <a:t>เหมาะสำหรับ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74519"/>
            <a:ext cx="68580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E596"/>
                </a:solidFill>
                <a:latin typeface="Segoe UI"/>
              </a:rPr>
              <a:t>KVM 2 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3352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2 / 8 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6664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100 GB NVMe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5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419 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19202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Startup (≤50 เครื่อง)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60320"/>
            <a:ext cx="6858000" cy="640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KVM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3352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egoe UI"/>
              </a:rPr>
              <a:t>4 / 16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6664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egoe UI"/>
              </a:rPr>
              <a:t>200 GB NVMe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9975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egoe UI"/>
              </a:rPr>
              <a:t>900 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3288" y="26060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egoe UI"/>
              </a:rPr>
              <a:t>Growth (100-500 เครื่อง)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246120"/>
            <a:ext cx="68580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KVM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73352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8 / 32 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26664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400 GB NVMe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5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1,600 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3288" y="3291840"/>
            <a:ext cx="1298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Scale (500+ เครื่อง)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977639"/>
            <a:ext cx="6858000" cy="77724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3977639"/>
            <a:ext cx="54864" cy="77724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023360"/>
            <a:ext cx="6583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0D4E8"/>
                </a:solidFill>
                <a:latin typeface="Sarabun"/>
              </a:rPr>
              <a:t>💡 All-in-One VPS: InfluxDB + PostgreSQL + Redis + Telegraf + Mosquitto + FastAPI ทำงานบน Docker เครื่องเดียว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06640" y="1371600"/>
            <a:ext cx="448056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06640" y="1371600"/>
            <a:ext cx="448056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596"/>
                </a:solidFill>
              </a:rPr>
              <a:t>🛡️ Backup Strategy</a:t>
            </a:r>
          </a:p>
          <a:p>
            <a:r>
              <a:rPr sz="1300" b="1">
                <a:solidFill>
                  <a:srgbClr val="FFFFFF"/>
                </a:solidFill>
              </a:rPr>
              <a:t>• Local Backup (ทุก 6 ชม.)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influx backup + pg_dump</a:t>
            </a:r>
          </a:p>
          <a:p>
            <a:r>
              <a:rPr sz="1300" b="1">
                <a:solidFill>
                  <a:srgbClr val="FFFFFF"/>
                </a:solidFill>
              </a:rPr>
              <a:t>• Remote Backup (ทุกวัน)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rclone → Cloudflare R2</a:t>
            </a:r>
          </a:p>
          <a:p>
            <a:r>
              <a:rPr sz="1300" b="1">
                <a:solidFill>
                  <a:srgbClr val="FFFFFF"/>
                </a:solidFill>
              </a:rPr>
              <a:t>• VPS Snapshot (รายสัปดาห์)</a:t>
            </a:r>
          </a:p>
          <a:p>
            <a:r>
              <a:rPr sz="1200">
                <a:solidFill>
                  <a:srgbClr val="B0C4DE"/>
                </a:solidFill>
                <a:latin typeface="Sarabun"/>
              </a:rPr>
              <a:t>  Hostinger hPanel</a:t>
            </a:r>
          </a:p>
          <a:p/>
          <a:p>
            <a:r>
              <a:rPr sz="1400" b="1">
                <a:solidFill>
                  <a:srgbClr val="00E596"/>
                </a:solidFill>
              </a:rPr>
              <a:t>☁️  Cloudflare R2</a:t>
            </a:r>
          </a:p>
          <a:p>
            <a:r>
              <a:rPr sz="1200">
                <a:solidFill>
                  <a:srgbClr val="00D4E8"/>
                </a:solidFill>
              </a:rPr>
              <a:t>  ✓ Free 10 GB/เดือน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ไฟล์ backup บีบอัด ~3-5 GB</a:t>
            </a:r>
          </a:p>
          <a:p>
            <a:r>
              <a:rPr sz="1200">
                <a:solidFill>
                  <a:srgbClr val="00D4E8"/>
                </a:solidFill>
              </a:rPr>
              <a:t>  ✓ $0 Egress Fee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ดาวน์โหลดกลับฟรี ≠ AWS S3</a:t>
            </a:r>
          </a:p>
          <a:p>
            <a:r>
              <a:rPr sz="1200">
                <a:solidFill>
                  <a:srgbClr val="00D4E8"/>
                </a:solidFill>
              </a:rPr>
              <a:t>  ✓ $0.015/GB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หากเกิน 10 GB (แทบไม่เกิน)</a:t>
            </a:r>
          </a:p>
          <a:p>
            <a:r>
              <a:rPr sz="1200">
                <a:solidFill>
                  <a:srgbClr val="00D4E8"/>
                </a:solidFill>
              </a:rPr>
              <a:t>  ✓ S3-compatible</a:t>
            </a:r>
          </a:p>
          <a:p>
            <a:r>
              <a:rPr sz="1100">
                <a:solidFill>
                  <a:srgbClr val="B0C4DE"/>
                </a:solidFill>
                <a:latin typeface="Sarabun"/>
              </a:rPr>
              <a:t>    ใช้ rclone / aws-cli ได้เลย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8. การชำระเงินผ่าน Stripe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Payment Gateway Flow &amp;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Mobile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ลูกค้าเลือกแพ็คเกจ
กด Upgrade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9424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49424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5144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95144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Stripe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5144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หน้าชำระเงิน
ของ Stripe โดยตรง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224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Stripe Webhook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egoe UI"/>
              </a:rPr>
              <a:t>ส่ง Event
invoice.paid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3328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⚙️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Core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อัปเดต PostgreSQL
+ โยนงานลง Redis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8432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74736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74736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egoe UI"/>
              </a:rPr>
              <a:t>Background Job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ก๊อปปี้ข้อมูล
InfluxDB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BFF"/>
                </a:solidFill>
                <a:latin typeface="Segoe U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0" y="1371600"/>
            <a:ext cx="1828800" cy="274320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49840" y="1371600"/>
            <a:ext cx="1828800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Segoe UI"/>
              </a:rPr>
              <a:t>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E8"/>
                </a:solidFill>
                <a:latin typeface="Sarabun"/>
              </a:rPr>
              <a:t>ลูกค้า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25146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arabun"/>
              </a:rPr>
              <a:t>เห็นกราฟ Pro
ทันที ไร้รอยต่อ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206240"/>
            <a:ext cx="11612880" cy="24688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320" y="4206240"/>
            <a:ext cx="1161288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519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C800"/>
                </a:solidFill>
                <a:latin typeface="Segoe UI"/>
              </a:rPr>
              <a:t>🔐 ทำไมถึงใช้ Stripe?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4709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Segoe UI"/>
              </a:rPr>
              <a:t>✅ ปลอดภัย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074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arabun"/>
              </a:rPr>
              <a:t>บริษัทไม่สัมผัสข้อมูลบัตรเครดิตลูกค้าเลย (PCI-DSS)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709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Segoe UI"/>
              </a:rPr>
              <a:t>✅ Webhook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074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arabun"/>
              </a:rPr>
              <a:t>ป้องกันลูกค้ากดปิดแอปตอนชำระเงิน — ระบบยังรู้ว่าจ่ายแล้ว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Segoe UI"/>
              </a:rPr>
              <a:t>✅ Subscription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arabun"/>
              </a:rPr>
              <a:t>ตัดเงินรายเดือนอัตโนมัติ ไม่ต้องให้ลูกค้ากดเองทุกเดือน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Segoe UI"/>
              </a:rPr>
              <a:t>✅ Audit Log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943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Sarabun"/>
              </a:rPr>
              <a:t>ทุก Transaction มี provider_ref ใช้ตรวจสอบย้อนหลังได้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rabun"/>
              </a:rPr>
              <a:t>9. สรุปและก้าวต่อไป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C4DE"/>
                </a:solidFill>
                <a:latin typeface="Segoe UI"/>
              </a:rPr>
              <a:t>PowerView — Ready to Scale as Commercial SaaS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0352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30352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596"/>
                </a:solidFill>
              </a:rPr>
              <a:t>✅ สิ่งที่เราออกแบบไว้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Multi-Bucket Routing (9 Buckets)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arabun"/>
              </a:rPr>
              <a:t>• Zero CPU Retention — Shard Dropping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Background Job Queue (Migration)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union() Seamless Graphing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Stripe Webhook Payment Flow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Cloudflare R2 Backup ($0)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• PostgreSQL Billing Schema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arabun"/>
              </a:rPr>
              <a:t>• API Paywall ผ่าน range(start: -7d)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371600"/>
            <a:ext cx="5943600" cy="5212080"/>
          </a:xfrm>
          <a:prstGeom prst="rect">
            <a:avLst/>
          </a:prstGeom>
          <a:solidFill>
            <a:srgbClr val="16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943600" cy="54864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C800"/>
                </a:solidFill>
              </a:rPr>
              <a:t>⚡ สิ่งที่ต้องทำต่อ (Next Steps)</a:t>
            </a:r>
          </a:p>
          <a:p>
            <a:r>
              <a:rPr sz="1300">
                <a:solidFill>
                  <a:srgbClr val="FF4D6D"/>
                </a:solidFill>
                <a:latin typeface="Sarabun"/>
              </a:rPr>
              <a:t>[P1] สร้าง InfluxDB 9 Buckets บน Server</a:t>
            </a:r>
          </a:p>
          <a:p>
            <a:r>
              <a:rPr sz="1300">
                <a:solidFill>
                  <a:srgbClr val="FF4D6D"/>
                </a:solidFill>
                <a:latin typeface="Sarabun"/>
              </a:rPr>
              <a:t>[P1] PostgreSQL Schema: subscriptions / payments</a:t>
            </a:r>
          </a:p>
          <a:p>
            <a:r>
              <a:rPr sz="1300">
                <a:solidFill>
                  <a:srgbClr val="FF4D6D"/>
                </a:solidFill>
                <a:latin typeface="Sarabun"/>
              </a:rPr>
              <a:t>[P1] Stripe Webhook Handler (FastAPI)</a:t>
            </a:r>
          </a:p>
          <a:p>
            <a:r>
              <a:rPr sz="1300">
                <a:solidFill>
                  <a:srgbClr val="FFC800"/>
                </a:solidFill>
                <a:latin typeface="Sarabun"/>
              </a:rPr>
              <a:t>[P2] Background Worker ด้วย Celery + Redis</a:t>
            </a:r>
          </a:p>
          <a:p>
            <a:r>
              <a:rPr sz="1300">
                <a:solidFill>
                  <a:srgbClr val="FFC800"/>
                </a:solidFill>
                <a:latin typeface="Sarabun"/>
              </a:rPr>
              <a:t>[P2] Telegraf Processor: Redis tier-check</a:t>
            </a:r>
          </a:p>
          <a:p>
            <a:r>
              <a:rPr sz="1300">
                <a:solidFill>
                  <a:srgbClr val="B0C4DE"/>
                </a:solidFill>
                <a:latin typeface="Sarabun"/>
              </a:rPr>
              <a:t>[P3] Cloudflare R2 + rclone Backup Script</a:t>
            </a:r>
          </a:p>
          <a:p>
            <a:r>
              <a:rPr sz="1300">
                <a:solidFill>
                  <a:srgbClr val="B0C4DE"/>
                </a:solidFill>
                <a:latin typeface="Sarabun"/>
              </a:rPr>
              <a:t>[P3] Integration Test: Full Upgrade/Downgrade 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C4DE"/>
                </a:solidFill>
                <a:latin typeface="Segoe UI"/>
              </a:rPr>
              <a:t>PowerView R&amp;D Team  |  Billing &amp; Tiers System v1.0  | 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