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-1371600"/>
            <a:ext cx="5486400" cy="5486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-914400"/>
            <a:ext cx="4572000" cy="4572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D4E8"/>
                </a:solidFill>
                <a:latin typeface="Segoe UI"/>
              </a:rPr>
              <a:t>⚡ PowerView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Segoe UI"/>
              </a:rPr>
              <a:t>Billing &amp; Tiers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0C4DE"/>
                </a:solidFill>
                <a:latin typeface="Sarabun"/>
              </a:rPr>
              <a:t>สถาปัตยกรรมระบบเก็บค่าบริการ &amp; แพ็คเกจ IoT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66160"/>
            <a:ext cx="2468880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566160"/>
            <a:ext cx="246888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3657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D4E8"/>
                </a:solidFill>
                <a:latin typeface="Segoe UI"/>
              </a:rPr>
              <a:t>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4297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E"/>
                </a:solidFill>
                <a:latin typeface="Segoe UI"/>
              </a:rPr>
              <a:t>Core Architecture
สมบูรณ์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3566160"/>
            <a:ext cx="2468880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3566160"/>
            <a:ext cx="246888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3657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D4E8"/>
                </a:solidFill>
                <a:latin typeface="Segoe UI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297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E"/>
                </a:solidFill>
                <a:latin typeface="Segoe UI"/>
              </a:rPr>
              <a:t>InfluxDB Buckets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566160"/>
            <a:ext cx="2468880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566160"/>
            <a:ext cx="246888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657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D4E8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297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E"/>
                </a:solidFill>
                <a:latin typeface="Segoe UI"/>
              </a:rPr>
              <a:t>Service Tiers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3566160"/>
            <a:ext cx="2468880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0" y="3566160"/>
            <a:ext cx="246888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19" y="3657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D4E8"/>
                </a:solidFill>
                <a:latin typeface="Segoe UI"/>
              </a:rPr>
              <a:t>95%+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19" y="4297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C4DE"/>
                </a:solidFill>
                <a:latin typeface="Segoe UI"/>
              </a:rPr>
              <a:t>Profit Margin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Segoe UI"/>
              </a:rPr>
              <a:t>July 2026  |  R&amp;D Program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1887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arabun"/>
              </a:rPr>
              <a:t>1. ภาพรวมระบบปัจจุบัน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E"/>
                </a:solidFill>
                <a:latin typeface="Segoe UI"/>
              </a:rPr>
              <a:t>Current System Architecture (~70% Complete)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73152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C800"/>
                </a:solidFill>
                <a:latin typeface="Segoe UI"/>
              </a:rPr>
              <a:t>🔌 Hardware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Segoe UI"/>
              </a:rPr>
              <a:t>PowerView Device 1 … 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560320"/>
            <a:ext cx="73152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560320"/>
            <a:ext cx="64008" cy="9144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60603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BFF"/>
                </a:solidFill>
                <a:latin typeface="Segoe UI"/>
              </a:rPr>
              <a:t>📡 Data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1752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Segoe UI"/>
              </a:rPr>
              <a:t>MQTT Broker (Mosquitto) + Telegraf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749039"/>
            <a:ext cx="73152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749039"/>
            <a:ext cx="64008" cy="9144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9475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96"/>
                </a:solidFill>
                <a:latin typeface="Segoe UI"/>
              </a:rPr>
              <a:t>💾 Storage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0624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Segoe UI"/>
              </a:rPr>
              <a:t>InfluxDB (Time-Series)  +  PostgreSQL (Relational)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892040"/>
            <a:ext cx="73152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892040"/>
            <a:ext cx="64008" cy="9144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93775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E8"/>
                </a:solidFill>
                <a:latin typeface="Segoe UI"/>
              </a:rPr>
              <a:t>📱 Application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4924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Segoe UI"/>
              </a:rPr>
              <a:t>Core API (FastAPI)  ·  Mobile App  ·  Web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286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8BFF"/>
                </a:solidFill>
                <a:latin typeface="Segoe UI"/>
              </a:rP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474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8BFF"/>
                </a:solidFill>
                <a:latin typeface="Segoe UI"/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663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8BFF"/>
                </a:solidFill>
                <a:latin typeface="Segoe UI"/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1371600"/>
            <a:ext cx="4114800" cy="45720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0" y="1371600"/>
            <a:ext cx="4114800" cy="54864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146304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E8"/>
                </a:solidFill>
                <a:latin typeface="Sarabun"/>
              </a:rPr>
              <a:t>จุดเด่นของระบบ</a:t>
            </a:r>
          </a:p>
          <a:p>
            <a:r>
              <a:rPr sz="1300" b="1">
                <a:solidFill>
                  <a:srgbClr val="00E596"/>
                </a:solidFill>
                <a:latin typeface="Segoe UI"/>
              </a:rPr>
              <a:t>✅ Polyglot Database</a:t>
            </a:r>
          </a:p>
          <a:p>
            <a:r>
              <a:rPr sz="1100">
                <a:solidFill>
                  <a:srgbClr val="B0C4DE"/>
                </a:solidFill>
                <a:latin typeface="Sarabun"/>
              </a:rPr>
              <a:t>    แยก DB ตามหน้าที่ InfluxDB + PostgreSQL</a:t>
            </a:r>
          </a:p>
          <a:p>
            <a:r>
              <a:rPr sz="1300" b="1">
                <a:solidFill>
                  <a:srgbClr val="00E596"/>
                </a:solidFill>
                <a:latin typeface="Segoe UI"/>
              </a:rPr>
              <a:t>✅ MQTT + Telegraf</a:t>
            </a:r>
          </a:p>
          <a:p>
            <a:r>
              <a:rPr sz="1100">
                <a:solidFill>
                  <a:srgbClr val="B0C4DE"/>
                </a:solidFill>
                <a:latin typeface="Sarabun"/>
              </a:rPr>
              <a:t>    รับโหลดระดับ Enterprise-grade</a:t>
            </a:r>
          </a:p>
          <a:p>
            <a:r>
              <a:rPr sz="1300" b="1">
                <a:solidFill>
                  <a:srgbClr val="00E596"/>
                </a:solidFill>
                <a:latin typeface="Segoe UI"/>
              </a:rPr>
              <a:t>✅ Docker on VPS</a:t>
            </a:r>
          </a:p>
          <a:p>
            <a:r>
              <a:rPr sz="1100">
                <a:solidFill>
                  <a:srgbClr val="B0C4DE"/>
                </a:solidFill>
                <a:latin typeface="Sarabun"/>
              </a:rPr>
              <a:t>    Self-hosted Hostinger KVM 2 ต้นทุนต่ำ</a:t>
            </a:r>
          </a:p>
          <a:p>
            <a:r>
              <a:rPr sz="1300" b="1">
                <a:solidFill>
                  <a:srgbClr val="00E596"/>
                </a:solidFill>
                <a:latin typeface="Segoe UI"/>
              </a:rPr>
              <a:t>✅ JWT Auth</a:t>
            </a:r>
          </a:p>
          <a:p>
            <a:r>
              <a:rPr sz="1100">
                <a:solidFill>
                  <a:srgbClr val="B0C4DE"/>
                </a:solidFill>
                <a:latin typeface="Sarabun"/>
              </a:rPr>
              <a:t>    Email / Google Sign-In รองรับ</a:t>
            </a:r>
          </a:p>
          <a:p>
            <a:r>
              <a:rPr sz="1300" b="1">
                <a:solidFill>
                  <a:srgbClr val="00E596"/>
                </a:solidFill>
                <a:latin typeface="Segoe UI"/>
              </a:rPr>
              <a:t>✅ On-demand Billing</a:t>
            </a:r>
          </a:p>
          <a:p>
            <a:r>
              <a:rPr sz="1100">
                <a:solidFill>
                  <a:srgbClr val="B0C4DE"/>
                </a:solidFill>
                <a:latin typeface="Sarabun"/>
              </a:rPr>
              <a:t>    API คำนวณค่าไฟ MEA ทันที</a:t>
            </a:r>
          </a:p>
          <a:p>
            <a:r>
              <a:rPr sz="1300" b="1">
                <a:solidFill>
                  <a:srgbClr val="00E596"/>
                </a:solidFill>
                <a:latin typeface="Segoe UI"/>
              </a:rPr>
              <a:t>✅ Real-time WebSocket</a:t>
            </a:r>
          </a:p>
          <a:p>
            <a:r>
              <a:rPr sz="1100">
                <a:solidFill>
                  <a:srgbClr val="B0C4DE"/>
                </a:solidFill>
                <a:latin typeface="Sarabun"/>
              </a:rPr>
              <a:t>    MQTT → App มือถือ Latency ต่ำ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18872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arabun"/>
              </a:rPr>
              <a:t>2. จุดเปลี่ยนผ่าน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E"/>
                </a:solidFill>
                <a:latin typeface="Sarabun"/>
              </a:rPr>
              <a:t>จาก IoT Platform → Commercial SaaS Product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303520" cy="43891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303520" cy="54864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C800"/>
                </a:solidFill>
              </a:rPr>
              <a:t>🏗️ สิ่งที่มีแล้ว (Done)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• ระบบรับข้อมูลเซ็นเซอร์ Real-time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• ฐานข้อมูล InfluxDB + PostgreSQL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Segoe UI"/>
              </a:rPr>
              <a:t>• Core API (FastAPI) + JWT Auth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• Mobile App เชื่อมต่อ WebSocket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• คำนวณค่าไฟ MEA ทุกประเภท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303520" cy="43891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303520" cy="54864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630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D4E8"/>
                </a:solidFill>
              </a:rPr>
              <a:t>💰 สิ่งที่กำลังออกแบบ (Billing)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• ระบบ Subscription Tier (Free/Pro/Enterprise)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• Multi-Bucket Routing ตาม Tier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Segoe UI"/>
              </a:rPr>
              <a:t>• Data Migration Background Job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Segoe UI"/>
              </a:rPr>
              <a:t>• Stripe Payment Gateway Integration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Sarabun"/>
              </a:rPr>
              <a:t>• PostgreSQL Schema สำหรับ Billing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Segoe UI"/>
              </a:rPr>
              <a:t>• Cloudflare R2 Backup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1089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C800"/>
                </a:solidFill>
                <a:latin typeface="Segoe U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931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C4DE"/>
                </a:solidFill>
                <a:latin typeface="Sarabun"/>
              </a:rPr>
              <a:t>โจทย์ที่ยากที่สุด: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29768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C800"/>
                </a:solidFill>
                <a:latin typeface="Sarabun"/>
              </a:rPr>
              <a:t>บริหาร
KVM Cost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1887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arabun"/>
              </a:rPr>
              <a:t>3. โมเดลราคา (Pricing Model)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E"/>
                </a:solidFill>
                <a:latin typeface="Segoe UI"/>
              </a:rPr>
              <a:t>Hybrid Per-Device + Retention 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3566160" cy="51206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3566160" cy="73152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3383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0C4DE"/>
                </a:solidFill>
                <a:latin typeface="Segoe UI"/>
              </a:rPr>
              <a:t>🆓 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74519"/>
            <a:ext cx="3383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egoe UI"/>
              </a:rPr>
              <a:t>ฟรี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6032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Segoe UI"/>
              </a:rPr>
              <a:t>0 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71800"/>
            <a:ext cx="3200400" cy="274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30632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Segoe UI"/>
              </a:rPr>
              <a:t>✓  Real-time ดูสดได้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520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Sarabun"/>
              </a:rPr>
              <a:t>✓  ย้อนหลัง 7 วัน (1 วินาที)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97763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Sarabun"/>
              </a:rPr>
              <a:t>✓  ย้อนหลัง 30 วัน (1 นาที)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434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Segoe UI"/>
              </a:rPr>
              <a:t>✓  ย้อนหลัง 1 ปี (1 ชั่วโมง)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4892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Segoe UI"/>
              </a:rPr>
              <a:t>✓  สูงสุด 3 เครื่อง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1325880"/>
            <a:ext cx="3566160" cy="51206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59" y="1325880"/>
            <a:ext cx="3566160" cy="7315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399" y="1371600"/>
            <a:ext cx="3383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8BFF"/>
                </a:solidFill>
                <a:latin typeface="Segoe UI"/>
              </a:rPr>
              <a:t>⭐ PRO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399" y="1874519"/>
            <a:ext cx="3383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egoe UI"/>
              </a:rPr>
              <a:t>99 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399" y="256032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Segoe UI"/>
              </a:rPr>
              <a:t>/device/เดือน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2971800"/>
            <a:ext cx="3200400" cy="274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0632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Segoe UI"/>
              </a:rPr>
              <a:t>✓  Real-time ดูสดได้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520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Sarabun"/>
              </a:rPr>
              <a:t>✓  ย้อนหลัง 90 วัน (1 วินาที)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97763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Sarabun"/>
              </a:rPr>
              <a:t>✓  ย้อนหลัง 1 ปี (1 นาที)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434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Segoe UI"/>
              </a:rPr>
              <a:t>✓  Export CSV + API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892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Sarabun"/>
              </a:rPr>
              <a:t>✓  แจ้งเตือนผิดปกติ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1325880"/>
            <a:ext cx="3566160" cy="51206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1325880"/>
            <a:ext cx="3566160" cy="73152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371600"/>
            <a:ext cx="3383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C800"/>
                </a:solidFill>
                <a:latin typeface="Segoe UI"/>
              </a:rPr>
              <a:t>🏢 ENTERPRISE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1874519"/>
            <a:ext cx="33832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egoe UI"/>
              </a:rPr>
              <a:t>299 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56032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  <a:latin typeface="Segoe UI"/>
              </a:rPr>
              <a:t>/device/เดือน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12480" y="2971800"/>
            <a:ext cx="3200400" cy="274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30632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Segoe UI"/>
              </a:rPr>
              <a:t>✓  Real-time ดูสดได้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3520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Sarabun"/>
              </a:rPr>
              <a:t>✓  ย้อนหลัง 1 ปี (1 วินาที)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397763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Sarabun"/>
              </a:rPr>
              <a:t>✓  ย้อนหลังไม่จำกัด (1 นาที)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44348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Segoe UI"/>
              </a:rPr>
              <a:t>✓  Custom Rules + Full MEA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48920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Segoe UI"/>
              </a:rPr>
              <a:t>✓  Priority Support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41908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D4E8"/>
                </a:solidFill>
                <a:latin typeface="Sarabun"/>
              </a:rPr>
              <a:t>ค่าบริการ  =  จำนวน Device  ×  ราคาต่อ Device/เดือน   |   Free Tier ช่วยเพิ่มยอดขาย Hardware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1887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arabun"/>
              </a:rPr>
              <a:t>4. วิเคราะห์ต้นทุน &amp; กำไร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E"/>
                </a:solidFill>
                <a:latin typeface="Segoe UI"/>
              </a:rPr>
              <a:t>Cost &amp; Profit Margin per Device per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950976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5087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0C4DE"/>
                </a:solidFill>
                <a:latin typeface="Segoe UI"/>
              </a:rPr>
              <a:t>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50876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0C4DE"/>
                </a:solidFill>
                <a:latin typeface="Segoe UI"/>
              </a:rPr>
              <a:t>Storage/เครื่อง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59" y="15087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0C4DE"/>
                </a:solidFill>
                <a:latin typeface="Segoe UI"/>
              </a:rPr>
              <a:t>ต้นทุน VPS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79" y="150876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0C4DE"/>
                </a:solidFill>
                <a:latin typeface="Sarabun"/>
              </a:rPr>
              <a:t>รายรับ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79" y="15087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0C4DE"/>
                </a:solidFill>
                <a:latin typeface="Sarabun"/>
              </a:rPr>
              <a:t>กำไร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150876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0C4DE"/>
                </a:solidFill>
                <a:latin typeface="Segoe UI"/>
              </a:rPr>
              <a:t>Margin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86000"/>
            <a:ext cx="9509760" cy="86868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4231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Segoe UI"/>
              </a:rPr>
              <a:t>🆓 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42316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Segoe UI"/>
              </a:rPr>
              <a:t>52 MB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59" y="24231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Segoe UI"/>
              </a:rPr>
              <a:t>~0.40 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79" y="242316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Segoe UI"/>
              </a:rPr>
              <a:t>0 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79" y="24231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Segoe UI"/>
              </a:rPr>
              <a:t>-0.40 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42316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4DE"/>
                </a:solidFill>
                <a:latin typeface="Segoe UI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200400"/>
            <a:ext cx="9509760" cy="86868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3375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Segoe UI"/>
              </a:rPr>
              <a:t>⭐ 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333756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Segoe UI"/>
              </a:rPr>
              <a:t>658 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59" y="33375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Segoe UI"/>
              </a:rPr>
              <a:t>~3.20 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79" y="333756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Segoe UI"/>
              </a:rPr>
              <a:t>99 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79" y="33375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Segoe UI"/>
              </a:rPr>
              <a:t>95.80 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33756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E596"/>
                </a:solidFill>
                <a:latin typeface="Segoe UI"/>
              </a:rPr>
              <a:t>96%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114800"/>
            <a:ext cx="9509760" cy="86868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2519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Segoe UI"/>
              </a:rPr>
              <a:t>🏢 Enterprise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425196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Segoe UI"/>
              </a:rPr>
              <a:t>2,704 MB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59" y="42519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Segoe UI"/>
              </a:rPr>
              <a:t>~16.0 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79" y="425196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Segoe UI"/>
              </a:rPr>
              <a:t>299 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79" y="425196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Segoe UI"/>
              </a:rPr>
              <a:t>283.0 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25196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C800"/>
                </a:solidFill>
                <a:latin typeface="Segoe UI"/>
              </a:rPr>
              <a:t>94%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074920"/>
            <a:ext cx="11612880" cy="13716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5074920"/>
            <a:ext cx="54864" cy="137160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1206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D6D"/>
                </a:solidFill>
                <a:latin typeface="Sarabun"/>
              </a:rPr>
              <a:t>⚠️  CONFIDENTIAL — ข้อมูลต้นทุนภายใน ห้ามเปิดเผยต่อลูกค้า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5778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Sarabun"/>
              </a:rPr>
              <a:t>Free Tier = ต้นทุนการตลาด (Customer Acquisition Cost) — ช่วยเพิ่มยอดขาย Hardware ไม่ใช่ตัวขาดทุน
Pro Tier  = Cash Cow หลักของธุรกิจ  |  ต้นทุน VPS ทั้งระบบ Hostinger KVM 2 = 419 ฿/เดือน รับได้ 1,000 เครื่อง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18872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5. Multi-Bucket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E"/>
                </a:solidFill>
                <a:latin typeface="Sarabun"/>
              </a:rPr>
              <a:t>กลยุทธ์การจัดการ InfluxDB — Zero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657600" cy="521208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4864" cy="521208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4D6D"/>
                </a:solidFill>
              </a:rPr>
              <a:t>❌ ทำไมไม่ลบข้อมูลเอง?</a:t>
            </a:r>
          </a:p>
          <a:p>
            <a:r>
              <a:rPr sz="1300" b="1">
                <a:solidFill>
                  <a:srgbClr val="FF4D6D"/>
                </a:solidFill>
              </a:rPr>
              <a:t>• influx delete = กิน CPU สูงสุด</a:t>
            </a:r>
          </a:p>
          <a:p>
            <a:r>
              <a:rPr sz="1200">
                <a:solidFill>
                  <a:srgbClr val="B0C4DE"/>
                </a:solidFill>
                <a:latin typeface="Sarabun"/>
              </a:rPr>
              <a:t>  ไล่ลบทีละบรรทัด ทุกคืนตี 3 เซิร์ฟเวอร์ค้าง</a:t>
            </a:r>
          </a:p>
          <a:p>
            <a:r>
              <a:rPr sz="1300" b="1">
                <a:solidFill>
                  <a:srgbClr val="FF4D6D"/>
                </a:solidFill>
              </a:rPr>
              <a:t>• 1 Device = 1 Bucket ก็ไม่ได้</a:t>
            </a:r>
          </a:p>
          <a:p>
            <a:r>
              <a:rPr sz="1200">
                <a:solidFill>
                  <a:srgbClr val="B0C4DE"/>
                </a:solidFill>
                <a:latin typeface="Sarabun"/>
              </a:rPr>
              <a:t>  1,000 เครื่อง = 1,000 Buckets → RAM เต็ม OOM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371600"/>
            <a:ext cx="4572000" cy="521208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1371600"/>
            <a:ext cx="4572000" cy="54864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4173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E8"/>
                </a:solidFill>
                <a:latin typeface="Segoe UI"/>
              </a:rPr>
              <a:t>✅ 9 Buckets Fixed — ต่อให้ 100,000 เครื่อง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011680"/>
            <a:ext cx="1417320" cy="1325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2011680"/>
            <a:ext cx="1417320" cy="4572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59" y="21031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0C4DE"/>
                </a:solidFill>
                <a:latin typeface="Segoe UI"/>
              </a:rPr>
              <a:t>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59" y="260604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7 วัน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59" y="29718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C4DE"/>
                </a:solidFill>
                <a:latin typeface="Segoe UI"/>
              </a:rPr>
              <a:t>Retention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87568" y="2011680"/>
            <a:ext cx="1417320" cy="1325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87568" y="2011680"/>
            <a:ext cx="1417320" cy="457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33288" y="21031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8BFF"/>
                </a:solidFill>
                <a:latin typeface="Segoe UI"/>
              </a:rPr>
              <a:t>pro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33288" y="260604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90 วัน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33288" y="29718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C4DE"/>
                </a:solidFill>
                <a:latin typeface="Segoe UI"/>
              </a:rPr>
              <a:t>Retention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2011680"/>
            <a:ext cx="1417320" cy="1325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68896" y="2011680"/>
            <a:ext cx="1417320" cy="4572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14616" y="210312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C800"/>
                </a:solidFill>
                <a:latin typeface="Segoe UI"/>
              </a:rPr>
              <a:t>enterprise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4616" y="260604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365 วัน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4616" y="29718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C4DE"/>
                </a:solidFill>
                <a:latin typeface="Segoe UI"/>
              </a:rPr>
              <a:t>Retention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3474720"/>
            <a:ext cx="1417320" cy="1325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06240" y="3474720"/>
            <a:ext cx="1417320" cy="4572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1959" y="35661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0C4DE"/>
                </a:solidFill>
                <a:latin typeface="Segoe UI"/>
              </a:rPr>
              <a:t>1m_free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59" y="40690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30 วัน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59" y="44348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C4DE"/>
                </a:solidFill>
                <a:latin typeface="Segoe UI"/>
              </a:rPr>
              <a:t>Retention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87568" y="3474720"/>
            <a:ext cx="1417320" cy="1325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87568" y="3474720"/>
            <a:ext cx="1417320" cy="457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33288" y="35661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8BFF"/>
                </a:solidFill>
                <a:latin typeface="Segoe UI"/>
              </a:rPr>
              <a:t>1m_pro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33288" y="40690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1 ปี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33288" y="44348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C4DE"/>
                </a:solidFill>
                <a:latin typeface="Segoe UI"/>
              </a:rPr>
              <a:t>Retention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68896" y="3474720"/>
            <a:ext cx="1417320" cy="1325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68896" y="3474720"/>
            <a:ext cx="1417320" cy="4572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14616" y="35661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C800"/>
                </a:solidFill>
                <a:latin typeface="Segoe UI"/>
              </a:rPr>
              <a:t>1m_enterprise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14616" y="40690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14616" y="44348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C4DE"/>
                </a:solidFill>
                <a:latin typeface="Segoe UI"/>
              </a:rPr>
              <a:t>Retention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4937760"/>
            <a:ext cx="1417320" cy="1325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06240" y="4937760"/>
            <a:ext cx="1417320" cy="4572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1959" y="502920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0C4DE"/>
                </a:solidFill>
                <a:latin typeface="Segoe UI"/>
              </a:rPr>
              <a:t>1h_free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51959" y="553212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1 ปี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51959" y="5897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C4DE"/>
                </a:solidFill>
                <a:latin typeface="Segoe UI"/>
              </a:rPr>
              <a:t>Retention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87568" y="4937760"/>
            <a:ext cx="1417320" cy="1325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87568" y="4937760"/>
            <a:ext cx="1417320" cy="457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33288" y="502920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8BFF"/>
                </a:solidFill>
                <a:latin typeface="Segoe UI"/>
              </a:rPr>
              <a:t>1h_pro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33288" y="553212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3 ปี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33288" y="5897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C4DE"/>
                </a:solidFill>
                <a:latin typeface="Segoe UI"/>
              </a:rPr>
              <a:t>Retention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68896" y="4937760"/>
            <a:ext cx="1417320" cy="1325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168896" y="4937760"/>
            <a:ext cx="1417320" cy="4572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14616" y="502920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C800"/>
                </a:solidFill>
                <a:latin typeface="Segoe UI"/>
              </a:rPr>
              <a:t>1h_enterprise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14616" y="553212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∞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14616" y="58978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C4DE"/>
                </a:solidFill>
                <a:latin typeface="Segoe UI"/>
              </a:rPr>
              <a:t>Retention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869680" y="1371600"/>
            <a:ext cx="3017520" cy="521208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869680" y="1371600"/>
            <a:ext cx="301752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06840" y="1463040"/>
            <a:ext cx="2834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E596"/>
                </a:solidFill>
              </a:rPr>
              <a:t>✅ ข้อดี Multi-Bucket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Shard Dropping: ลบทั้งก้อน ไม่กิน CPU เลย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Zero Maintenance: ไม่ต้องเขียน Cron ลบ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Scale หลักแสนเครื่อง โครงสร้างไม่เปลี่ยน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RAM ไม่บวม: 9 Buckets ≈ Kilobytes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18872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arabun"/>
              </a:rPr>
              <a:t>6. ความไร้รอยต่อ (Seamless Data)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E"/>
                </a:solidFill>
                <a:latin typeface="Sarabun"/>
              </a:rPr>
              <a:t>Upgrade/Downgrade โดยไม่มีกราฟแหว่ง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61288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96"/>
                </a:solidFill>
                <a:latin typeface="Sarabun"/>
              </a:rPr>
              <a:t>🟢 กรณีอัปเกรด (Free → Pro)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28800"/>
            <a:ext cx="210312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210312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874519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E596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286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ชำระเงิน
สำเร็จ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39" y="214884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B0C4DE"/>
                </a:solidFill>
                <a:latin typeface="Segoe U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78608" y="1828800"/>
            <a:ext cx="210312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78608" y="1828800"/>
            <a:ext cx="210312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24327" y="1874519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8B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4327" y="2286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API → Redis
อัปเดต Cache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7" y="214884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B0C4DE"/>
                </a:solidFill>
                <a:latin typeface="Segoe U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82896" y="1828800"/>
            <a:ext cx="210312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82896" y="1828800"/>
            <a:ext cx="210312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28616" y="1874519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8B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8616" y="2286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Telegraf
เขียนถัง Pro ทันที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214884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B0C4DE"/>
                </a:solidFill>
                <a:latin typeface="Segoe U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87184" y="1828800"/>
            <a:ext cx="210312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87184" y="1828800"/>
            <a:ext cx="2103120" cy="54864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32904" y="1874519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C800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2904" y="2286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Trigger
Background Job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0304" y="214884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B0C4DE"/>
                </a:solidFill>
                <a:latin typeface="Segoe U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91472" y="1828800"/>
            <a:ext cx="210312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91472" y="1828800"/>
            <a:ext cx="2103120" cy="54864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37192" y="1874519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C800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37192" y="2286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Job ก๊อปปี้
ข้อมูลเก่า → Pro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926080"/>
            <a:ext cx="11612880" cy="5029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2926080"/>
            <a:ext cx="54864" cy="50292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971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D4E8"/>
                </a:solidFill>
                <a:latin typeface="Sarabun"/>
              </a:rPr>
              <a:t>💡 ระหว่างรอ Job: Backend API ใช้ union() ดึงข้อมูลจากทั้ง 2 ถังพร้อมกัน → กราฟต่อเนื่อง 100% ทันที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520440"/>
            <a:ext cx="1161288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53872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4D6D"/>
                </a:solidFill>
                <a:latin typeface="Sarabun"/>
              </a:rPr>
              <a:t>🔴 กรณีดาวน์เกรด / หมดอายุ (Pro → Free)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977639"/>
            <a:ext cx="210312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3977639"/>
            <a:ext cx="2103120" cy="54864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4005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4D6D"/>
                </a:solidFill>
                <a:latin typeface="Segoe UI"/>
              </a:rPr>
              <a:t>Cron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43434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ตรวจพบหมดอายุ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77439" y="42519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B0C4DE"/>
                </a:solidFill>
                <a:latin typeface="Segoe UI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78608" y="3977639"/>
            <a:ext cx="210312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578608" y="3977639"/>
            <a:ext cx="2103120" cy="54864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24327" y="4005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4D6D"/>
                </a:solidFill>
                <a:latin typeface="Segoe UI"/>
              </a:rPr>
              <a:t>Redis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24327" y="43434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อัปเดต Cache
= Free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81727" y="42519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B0C4DE"/>
                </a:solidFill>
                <a:latin typeface="Segoe UI"/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82896" y="3977639"/>
            <a:ext cx="210312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82896" y="3977639"/>
            <a:ext cx="2103120" cy="54864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28616" y="4005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4D6D"/>
                </a:solidFill>
                <a:latin typeface="Segoe UI"/>
              </a:rPr>
              <a:t>Telegraf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28616" y="43434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เขียนถัง Free
ทันที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86016" y="42519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B0C4DE"/>
                </a:solidFill>
                <a:latin typeface="Segoe UI"/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87184" y="3977639"/>
            <a:ext cx="210312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187184" y="3977639"/>
            <a:ext cx="2103120" cy="54864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32904" y="4005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B0C4DE"/>
                </a:solidFill>
                <a:latin typeface="Segoe UI"/>
              </a:rPr>
              <a:t>Pro Bucket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32904" y="43434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ปล่อยทิ้ง
Retention ลบเอง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90304" y="42519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B0C4DE"/>
                </a:solidFill>
                <a:latin typeface="Segoe UI"/>
              </a:rPr>
              <a:t>→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91472" y="3977639"/>
            <a:ext cx="210312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491472" y="3977639"/>
            <a:ext cx="2103120" cy="54864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537192" y="4005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C800"/>
                </a:solidFill>
                <a:latin typeface="Segoe UI"/>
              </a:rPr>
              <a:t>union()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37192" y="43434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กราฟต่อเนื่อง
อีก 7 วัน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5029200"/>
            <a:ext cx="11612880" cy="16459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74320" y="5029200"/>
            <a:ext cx="54864" cy="164592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50749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800"/>
                </a:solidFill>
                <a:latin typeface="Segoe UI"/>
              </a:rPr>
              <a:t>⚙️ Background Job (Worker Process)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548640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0C4DE"/>
                </a:solidFill>
                <a:latin typeface="Sarabun"/>
              </a:rPr>
              <a:t>Main API  →  โยนใบสั่งงานลง Redis Queue  →  Worker หยิบงาน  →  InfluxDB ก๊อปปี้ข้อมูล  →  PostgreSQL บันทึก migration_status = completed
เหตุผล: ป้องกัน Main API ค้างตอนย้ายข้อมูล 658 MB (Pro→Enterprise)  |  ไลบรารีแนะนำ: BullMQ (Node.js) / Celery (Python)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18872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arabun"/>
              </a:rPr>
              <a:t>7. โครงสร้างพื้นฐาน &amp;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E"/>
                </a:solidFill>
                <a:latin typeface="Segoe UI"/>
              </a:rPr>
              <a:t>Hostinger KVM VPS + Cloudflare R2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68580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173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800"/>
                </a:solidFill>
                <a:latin typeface="Sarabun"/>
              </a:rPr>
              <a:t>แพ็คเกจ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3352" y="14173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800"/>
                </a:solidFill>
                <a:latin typeface="Segoe UI"/>
              </a:rPr>
              <a:t>vCPU / 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26664" y="14173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800"/>
                </a:solidFill>
                <a:latin typeface="Segoe UI"/>
              </a:rPr>
              <a:t>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9975" y="14173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800"/>
                </a:solidFill>
                <a:latin typeface="Sarabun"/>
              </a:rPr>
              <a:t>ราคา/เดือน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3288" y="14173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C800"/>
                </a:solidFill>
                <a:latin typeface="Sarabun"/>
              </a:rPr>
              <a:t>เหมาะสำหรับ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74519"/>
            <a:ext cx="685800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920240"/>
            <a:ext cx="1298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E596"/>
                </a:solidFill>
                <a:latin typeface="Segoe UI"/>
              </a:rPr>
              <a:t>KVM 2 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3352" y="1920240"/>
            <a:ext cx="1298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2 / 8 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1920240"/>
            <a:ext cx="1298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100 GB NVMe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5" y="1920240"/>
            <a:ext cx="1298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419 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33288" y="1920240"/>
            <a:ext cx="1298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Startup (≤50 เครื่อง)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60320"/>
            <a:ext cx="6858000" cy="64008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606040"/>
            <a:ext cx="1298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KVM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3352" y="2606040"/>
            <a:ext cx="1298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Segoe UI"/>
              </a:rPr>
              <a:t>4 / 16 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26664" y="2606040"/>
            <a:ext cx="1298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Segoe UI"/>
              </a:rPr>
              <a:t>200 GB NVMe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9975" y="2606040"/>
            <a:ext cx="1298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Segoe UI"/>
              </a:rPr>
              <a:t>900 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33288" y="2606040"/>
            <a:ext cx="1298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Segoe UI"/>
              </a:rPr>
              <a:t>Growth (100-500 เครื่อง)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246120"/>
            <a:ext cx="685800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291840"/>
            <a:ext cx="1298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KVM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73352" y="3291840"/>
            <a:ext cx="1298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8 / 32 GB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26664" y="3291840"/>
            <a:ext cx="1298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400 GB NVMe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9975" y="3291840"/>
            <a:ext cx="1298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1,600 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33288" y="3291840"/>
            <a:ext cx="12984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Scale (500+ เครื่อง)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977639"/>
            <a:ext cx="6858000" cy="77724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977639"/>
            <a:ext cx="54864" cy="77724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023360"/>
            <a:ext cx="6583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0D4E8"/>
                </a:solidFill>
                <a:latin typeface="Sarabun"/>
              </a:rPr>
              <a:t>💡 All-in-One VPS: InfluxDB + PostgreSQL + Redis + Telegraf + Mosquitto + FastAPI ทำงานบน Docker เครื่องเดียว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1371600"/>
            <a:ext cx="4480560" cy="521208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06640" y="1371600"/>
            <a:ext cx="448056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43800" y="146304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E596"/>
                </a:solidFill>
              </a:rPr>
              <a:t>🛡️ Backup Strategy</a:t>
            </a:r>
          </a:p>
          <a:p>
            <a:r>
              <a:rPr sz="1300" b="1">
                <a:solidFill>
                  <a:srgbClr val="FFFFFF"/>
                </a:solidFill>
              </a:rPr>
              <a:t>• Local Backup (ทุก 6 ชม.)</a:t>
            </a:r>
          </a:p>
          <a:p>
            <a:r>
              <a:rPr sz="1200">
                <a:solidFill>
                  <a:srgbClr val="B0C4DE"/>
                </a:solidFill>
                <a:latin typeface="Sarabun"/>
              </a:rPr>
              <a:t>  influx backup + pg_dump</a:t>
            </a:r>
          </a:p>
          <a:p>
            <a:r>
              <a:rPr sz="1300" b="1">
                <a:solidFill>
                  <a:srgbClr val="FFFFFF"/>
                </a:solidFill>
              </a:rPr>
              <a:t>• Remote Backup (ทุกวัน)</a:t>
            </a:r>
          </a:p>
          <a:p>
            <a:r>
              <a:rPr sz="1200">
                <a:solidFill>
                  <a:srgbClr val="B0C4DE"/>
                </a:solidFill>
                <a:latin typeface="Sarabun"/>
              </a:rPr>
              <a:t>  rclone → Cloudflare R2</a:t>
            </a:r>
          </a:p>
          <a:p>
            <a:r>
              <a:rPr sz="1300" b="1">
                <a:solidFill>
                  <a:srgbClr val="FFFFFF"/>
                </a:solidFill>
              </a:rPr>
              <a:t>• VPS Snapshot (รายสัปดาห์)</a:t>
            </a:r>
          </a:p>
          <a:p>
            <a:r>
              <a:rPr sz="1200">
                <a:solidFill>
                  <a:srgbClr val="B0C4DE"/>
                </a:solidFill>
                <a:latin typeface="Sarabun"/>
              </a:rPr>
              <a:t>  Hostinger hPanel</a:t>
            </a:r>
          </a:p>
          <a:p/>
          <a:p>
            <a:r>
              <a:rPr sz="1400" b="1">
                <a:solidFill>
                  <a:srgbClr val="00E596"/>
                </a:solidFill>
              </a:rPr>
              <a:t>☁️  Cloudflare R2</a:t>
            </a:r>
          </a:p>
          <a:p>
            <a:r>
              <a:rPr sz="1200">
                <a:solidFill>
                  <a:srgbClr val="00D4E8"/>
                </a:solidFill>
              </a:rPr>
              <a:t>  ✓ Free 10 GB/เดือน</a:t>
            </a:r>
          </a:p>
          <a:p>
            <a:r>
              <a:rPr sz="1100">
                <a:solidFill>
                  <a:srgbClr val="B0C4DE"/>
                </a:solidFill>
                <a:latin typeface="Sarabun"/>
              </a:rPr>
              <a:t>    ไฟล์ backup บีบอัด ~3-5 GB</a:t>
            </a:r>
          </a:p>
          <a:p>
            <a:r>
              <a:rPr sz="1200">
                <a:solidFill>
                  <a:srgbClr val="00D4E8"/>
                </a:solidFill>
              </a:rPr>
              <a:t>  ✓ $0 Egress Fee</a:t>
            </a:r>
          </a:p>
          <a:p>
            <a:r>
              <a:rPr sz="1100">
                <a:solidFill>
                  <a:srgbClr val="B0C4DE"/>
                </a:solidFill>
                <a:latin typeface="Sarabun"/>
              </a:rPr>
              <a:t>    ดาวน์โหลดกลับฟรี ≠ AWS S3</a:t>
            </a:r>
          </a:p>
          <a:p>
            <a:r>
              <a:rPr sz="1200">
                <a:solidFill>
                  <a:srgbClr val="00D4E8"/>
                </a:solidFill>
              </a:rPr>
              <a:t>  ✓ $0.015/GB</a:t>
            </a:r>
          </a:p>
          <a:p>
            <a:r>
              <a:rPr sz="1100">
                <a:solidFill>
                  <a:srgbClr val="B0C4DE"/>
                </a:solidFill>
                <a:latin typeface="Sarabun"/>
              </a:rPr>
              <a:t>    หากเกิน 10 GB (แทบไม่เกิน)</a:t>
            </a:r>
          </a:p>
          <a:p>
            <a:r>
              <a:rPr sz="1200">
                <a:solidFill>
                  <a:srgbClr val="00D4E8"/>
                </a:solidFill>
              </a:rPr>
              <a:t>  ✓ S3-compatible</a:t>
            </a:r>
          </a:p>
          <a:p>
            <a:r>
              <a:rPr sz="1100">
                <a:solidFill>
                  <a:srgbClr val="B0C4DE"/>
                </a:solidFill>
                <a:latin typeface="Sarabun"/>
              </a:rPr>
              <a:t>    ใช้ rclone / aws-cli ได้เลย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1887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arabun"/>
              </a:rPr>
              <a:t>8. การชำระเงินผ่าน Stripe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E"/>
                </a:solidFill>
                <a:latin typeface="Segoe UI"/>
              </a:rPr>
              <a:t>Payment Gateway Flow &amp;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828800" cy="27432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182880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173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Segoe UI"/>
              </a:rP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057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D4E8"/>
                </a:solidFill>
                <a:latin typeface="Segoe UI"/>
              </a:rPr>
              <a:t>Mobile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514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Sarabun"/>
              </a:rPr>
              <a:t>ลูกค้าเลือกแพ็คเกจ
กด Upgrade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46888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8BFF"/>
                </a:solidFill>
                <a:latin typeface="Segoe U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9424" y="1371600"/>
            <a:ext cx="1828800" cy="27432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49424" y="1371600"/>
            <a:ext cx="182880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95144" y="14173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Segoe UI"/>
              </a:rPr>
              <a:t>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95144" y="2057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D4E8"/>
                </a:solidFill>
                <a:latin typeface="Segoe UI"/>
              </a:rPr>
              <a:t>Stripe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95144" y="2514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Sarabun"/>
              </a:rPr>
              <a:t>หน้าชำระเงิน
ของ Stripe โดยตรง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8224" y="246888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8BFF"/>
                </a:solidFill>
                <a:latin typeface="Segoe U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24528" y="1371600"/>
            <a:ext cx="1828800" cy="27432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24528" y="1371600"/>
            <a:ext cx="182880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0248" y="14173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Segoe UI"/>
              </a:rP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2057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D4E8"/>
                </a:solidFill>
                <a:latin typeface="Segoe UI"/>
              </a:rPr>
              <a:t>Stripe Webhook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2514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Segoe UI"/>
              </a:rPr>
              <a:t>ส่ง Event
invoice.paid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3328" y="246888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8BFF"/>
                </a:solidFill>
                <a:latin typeface="Segoe U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1371600"/>
            <a:ext cx="1828800" cy="27432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2" y="1371600"/>
            <a:ext cx="182880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5352" y="14173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Segoe UI"/>
              </a:rPr>
              <a:t>⚙️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5352" y="2057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D4E8"/>
                </a:solidFill>
                <a:latin typeface="Segoe UI"/>
              </a:rPr>
              <a:t>Core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2514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Sarabun"/>
              </a:rPr>
              <a:t>อัปเดต PostgreSQL
+ โยนงานลง Redis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8432" y="246888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8BFF"/>
                </a:solidFill>
                <a:latin typeface="Segoe U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74736" y="1371600"/>
            <a:ext cx="1828800" cy="27432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74736" y="1371600"/>
            <a:ext cx="182880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0456" y="14173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Segoe UI"/>
              </a:rPr>
              <a:t>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0456" y="2057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D4E8"/>
                </a:solidFill>
                <a:latin typeface="Segoe UI"/>
              </a:rPr>
              <a:t>Background Job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0456" y="2514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Sarabun"/>
              </a:rPr>
              <a:t>ก๊อปปี้ข้อมูล
InfluxDB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03536" y="246888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8BFF"/>
                </a:solidFill>
                <a:latin typeface="Segoe U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49840" y="1371600"/>
            <a:ext cx="1828800" cy="274320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49840" y="1371600"/>
            <a:ext cx="182880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95560" y="14173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Segoe UI"/>
              </a:rPr>
              <a:t>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60" y="2057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D4E8"/>
                </a:solidFill>
                <a:latin typeface="Sarabun"/>
              </a:rPr>
              <a:t>ลูกค้า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251460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Sarabun"/>
              </a:rPr>
              <a:t>เห็นกราฟ Pro
ทันที ไร้รอยต่อ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206240"/>
            <a:ext cx="11612880" cy="246888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" y="4206240"/>
            <a:ext cx="11612880" cy="54864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2519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800"/>
                </a:solidFill>
                <a:latin typeface="Segoe UI"/>
              </a:rPr>
              <a:t>🔐 ทำไมถึงใช้ Stripe?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96"/>
                </a:solidFill>
                <a:latin typeface="Segoe UI"/>
              </a:rPr>
              <a:t>✅ ปลอดภัย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074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Sarabun"/>
              </a:rPr>
              <a:t>บริษัทไม่สัมผัสข้อมูลบัตรเครดิตลูกค้าเลย (PCI-DSS)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96"/>
                </a:solidFill>
                <a:latin typeface="Segoe UI"/>
              </a:rPr>
              <a:t>✅ Webhook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5074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Sarabun"/>
              </a:rPr>
              <a:t>ป้องกันลูกค้ากดปิดแอปตอนชำระเงิน — ระบบยังรู้ว่าจ่ายแล้ว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577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96"/>
                </a:solidFill>
                <a:latin typeface="Segoe UI"/>
              </a:rPr>
              <a:t>✅ Subscription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943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Sarabun"/>
              </a:rPr>
              <a:t>ตัดเงินรายเดือนอัตโนมัติ ไม่ต้องให้ลูกค้ากดเองทุกเดือน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5577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96"/>
                </a:solidFill>
                <a:latin typeface="Segoe UI"/>
              </a:rPr>
              <a:t>✅ Audit Log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5943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Sarabun"/>
              </a:rPr>
              <a:t>ทุก Transaction มี provider_ref ใช้ตรวจสอบย้อนหลังได้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18872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arabun"/>
              </a:rPr>
              <a:t>9. สรุปและก้าวต่อไป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E"/>
                </a:solidFill>
                <a:latin typeface="Segoe UI"/>
              </a:rPr>
              <a:t>PowerView — Ready to Scale as Commercial SaaS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303520" cy="521208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30352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49377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E596"/>
                </a:solidFill>
              </a:rPr>
              <a:t>✅ สิ่งที่เราออกแบบไว้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• Multi-Bucket Routing (9 Buckets)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Sarabun"/>
              </a:rPr>
              <a:t>• Zero CPU Retention — Shard Dropping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• Background Job Queue (Migration)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• union() Seamless Graphing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• Stripe Webhook Payment Flow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• Cloudflare R2 Backup ($0)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• PostgreSQL Billing Schema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Sarabun"/>
              </a:rPr>
              <a:t>• API Paywall ผ่าน range(start: -7d)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371600"/>
            <a:ext cx="5943600" cy="521208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0" y="1371600"/>
            <a:ext cx="5943600" cy="54864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46304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C800"/>
                </a:solidFill>
              </a:rPr>
              <a:t>⚡ สิ่งที่ต้องทำต่อ (Next Steps)</a:t>
            </a:r>
          </a:p>
          <a:p>
            <a:r>
              <a:rPr sz="1300">
                <a:solidFill>
                  <a:srgbClr val="FF4D6D"/>
                </a:solidFill>
                <a:latin typeface="Sarabun"/>
              </a:rPr>
              <a:t>[P1] สร้าง InfluxDB 9 Buckets บน Server</a:t>
            </a:r>
          </a:p>
          <a:p>
            <a:r>
              <a:rPr sz="1300">
                <a:solidFill>
                  <a:srgbClr val="FF4D6D"/>
                </a:solidFill>
                <a:latin typeface="Sarabun"/>
              </a:rPr>
              <a:t>[P1] PostgreSQL Schema: subscriptions / payments</a:t>
            </a:r>
          </a:p>
          <a:p>
            <a:r>
              <a:rPr sz="1300">
                <a:solidFill>
                  <a:srgbClr val="FF4D6D"/>
                </a:solidFill>
                <a:latin typeface="Sarabun"/>
              </a:rPr>
              <a:t>[P1] Stripe Webhook Handler (FastAPI)</a:t>
            </a:r>
          </a:p>
          <a:p>
            <a:r>
              <a:rPr sz="1300">
                <a:solidFill>
                  <a:srgbClr val="FFC800"/>
                </a:solidFill>
                <a:latin typeface="Sarabun"/>
              </a:rPr>
              <a:t>[P2] Background Worker ด้วย Celery + Redis</a:t>
            </a:r>
          </a:p>
          <a:p>
            <a:r>
              <a:rPr sz="1300">
                <a:solidFill>
                  <a:srgbClr val="FFC800"/>
                </a:solidFill>
                <a:latin typeface="Sarabun"/>
              </a:rPr>
              <a:t>[P2] Telegraf Processor: Redis tier-check</a:t>
            </a:r>
          </a:p>
          <a:p>
            <a:r>
              <a:rPr sz="1300">
                <a:solidFill>
                  <a:srgbClr val="B0C4DE"/>
                </a:solidFill>
                <a:latin typeface="Sarabun"/>
              </a:rPr>
              <a:t>[P3] Cloudflare R2 + rclone Backup Script</a:t>
            </a:r>
          </a:p>
          <a:p>
            <a:r>
              <a:rPr sz="1300">
                <a:solidFill>
                  <a:srgbClr val="B0C4DE"/>
                </a:solidFill>
                <a:latin typeface="Sarabun"/>
              </a:rPr>
              <a:t>[P3] Integration Test: Full Upgrade/Downgrade 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E"/>
                </a:solidFill>
                <a:latin typeface="Segoe UI"/>
              </a:rPr>
              <a:t>PowerView R&amp;D Team  |  Billing &amp; Tiers System v1.0  |  July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137160"/>
            <a:ext cx="640080" cy="5029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1371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Segoe UI"/>
              </a:rPr>
              <a:t>A1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6217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8BFF"/>
                </a:solidFill>
                <a:latin typeface="Segoe UI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Full 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132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Sarabun"/>
              </a:rPr>
              <a:t>โครงสร้างสถาปัตยกรรมระบบทั้งหมด — Hardware to Application</a:t>
            </a:r>
          </a:p>
        </p:txBody>
      </p:sp>
      <p:pic>
        <p:nvPicPr>
          <p:cNvPr id="9" name="Picture 8" descr="diag_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03814"/>
            <a:ext cx="7772400" cy="478189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138160" y="1143000"/>
            <a:ext cx="3840480" cy="53035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1143000"/>
            <a:ext cx="384048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207008"/>
            <a:ext cx="3611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8BFF"/>
                </a:solidFill>
                <a:latin typeface="Sarabun"/>
              </a:rPr>
              <a:t>Key Points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Hardware publish JSON 33 fields/sec via MQTT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Telegraf subscribe MQTT และ parse JSON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Telegraf check Tier จาก Redis ก่อนเลือก Bucket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Core API คำนวณ Billing on-demand (ไม่มี Worker แยก)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PostgreSQL เก็บ User/Subscription/Payment (ACID)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InfluxDB เก็บ Time-Series IoT data (High Throughput)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Redis เป็นทั้ง Cache Tier และ Queue สำหรับ Worker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ทุก service รันบน Docker บน Hostinger KVM VPS เดียว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137160"/>
            <a:ext cx="640080" cy="50292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1371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Segoe UI"/>
              </a:rPr>
              <a:t>A2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6217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D4E8"/>
                </a:solidFill>
                <a:latin typeface="Segoe UI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PostgreSQL Schema (ER Diagram)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132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Sarabun"/>
              </a:rPr>
              <a:t>ตารางฐานข้อมูลระบบ Billing ทั้งหมด — 6 Tables</a:t>
            </a:r>
          </a:p>
        </p:txBody>
      </p:sp>
      <p:pic>
        <p:nvPicPr>
          <p:cNvPr id="9" name="Picture 8" descr="diag_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42999"/>
            <a:ext cx="2933335" cy="53035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138160" y="1143000"/>
            <a:ext cx="3840480" cy="53035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1143000"/>
            <a:ext cx="3840480" cy="54864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207008"/>
            <a:ext cx="3611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D4E8"/>
                </a:solidFill>
                <a:latin typeface="Sarabun"/>
              </a:rPr>
              <a:t>Schema Notes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## USERS (มีอยู่แล้ว)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id, email, display_name, role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google_id: Google OAuth Sign-In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password_hash: Email/Pass login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## DEVICES (มีอยู่แล้ว)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id = Device ID = MQTT Topic prefix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secret_key: MQTT authentication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## TIERS (ตารางใหม่)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เก็บ config ราคา+สิทธิ์ ของแต่ละ Tier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price_*_thb: หน่วยสตางค์ (9900 = 99 บาท)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raw/ds1m/ds1h_retention_days: จำนวนวันเก็บ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max_devices: 3 สำหรับ Free, 0 = ไม่จำกัด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## DEVICE_SUBSCRIPTIONS (ตารางใหม่)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tier_id FK -&gt; TIERS (ไม่ hardcode string)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subscribed_by FK -&gt; USERS (ใครจ่าย)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billing_cycle: monthly / yearly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status: active, expired, cancelled, trial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## PAYMENTS (ตารางใหม่)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subscription_id FK -&gt; DEVICE_SUBSCRIPTIONS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provider_ref: Stripe Payment Intent ID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status: pending, completed, failed, refunded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137160"/>
            <a:ext cx="640080" cy="5029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1371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Segoe UI"/>
              </a:rPr>
              <a:t>A3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6217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E596"/>
                </a:solidFill>
                <a:latin typeface="Segoe UI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9-Bucket Architecture + Downsampling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132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Sarabun"/>
              </a:rPr>
              <a:t>การแบ่ง Bucket ตาม Tier และการบีบอัดข้อมูล (Flux Tasks)</a:t>
            </a:r>
          </a:p>
        </p:txBody>
      </p:sp>
      <p:pic>
        <p:nvPicPr>
          <p:cNvPr id="9" name="Picture 8" descr="diag_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43000"/>
            <a:ext cx="5694006" cy="53035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138160" y="1143000"/>
            <a:ext cx="3840480" cy="53035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1143000"/>
            <a:ext cx="384048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207008"/>
            <a:ext cx="3611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96"/>
                </a:solidFill>
                <a:latin typeface="Sarabun"/>
              </a:rPr>
              <a:t>Bucket Reference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## Raw Buckets (1 second)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power_data_free: Retention 7d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power_data_pro: Retention 90d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power_data_enterprise: Retention 365d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## 1-minute Buckets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power_data_1m_free: Retention 30d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power_data_1m_pro: Retention 1yr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power_data_1m_enterprise: Retention inf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## 1-hour Buckets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power_data_1h_free: Retention 1yr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power_data_1h_pro: Retention 3yr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power_data_1h_enterprise: Retention inf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## Total: 9 Buckets fixed ไม่ว่า Scale เท่าไหร่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137160"/>
            <a:ext cx="640080" cy="50292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1371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Segoe UI"/>
              </a:rPr>
              <a:t>A4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6217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C800"/>
                </a:solidFill>
                <a:latin typeface="Segoe UI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Data Migration Flow (Upgrade / Downgrade)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132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Sarabun"/>
              </a:rPr>
              <a:t>ขั้นตอนการย้ายข้อมูล Background Job และ union() API</a:t>
            </a:r>
          </a:p>
        </p:txBody>
      </p:sp>
      <p:pic>
        <p:nvPicPr>
          <p:cNvPr id="9" name="Picture 8" descr="diag_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05882"/>
            <a:ext cx="7772400" cy="397775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138160" y="1143000"/>
            <a:ext cx="3840480" cy="53035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1143000"/>
            <a:ext cx="3840480" cy="54864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207008"/>
            <a:ext cx="3611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C800"/>
                </a:solidFill>
                <a:latin typeface="Sarabun"/>
              </a:rPr>
              <a:t>Migration Notes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## Upgrade Free → Pro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ข้อมูลใหม่ไหลถัง Pro ทันทีผ่าน Redis cache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Background Job ก๊อปปี้ 7d ข้อมูลจาก Free (~48 MB)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union() ป้องกันกราฟแหว่งระหว่างรอ Job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## Upgrade Pro → Enterprise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Job ก๊อปปี้ 90d ข้อมูล (~658 MB per device)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ใช้ Queue ทยอยทำเพื่อไม่กระทบ API performance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## Downgrade / Expire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ปล่อยข้อมูลเก่าทิ้ง InfluxDB ลบเองตาม Retention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union() ดึงทั้ง 2 ถังอีก 7 วันเพื่อกราฟต่อเนื่อง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## API Paywall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range(start: -7d) ทำให้ข้อมูลเก่ากว่า 7d ไม่ถูกดึง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137160"/>
            <a:ext cx="640080" cy="5029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1371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Segoe UI"/>
              </a:rPr>
              <a:t>A5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6217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8BFF"/>
                </a:solidFill>
                <a:latin typeface="Segoe UI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Downsampling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132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Sarabun"/>
              </a:rPr>
              <a:t>การบีบอัดข้อมูลจาก 1 วินาที → 1 นาที → 1 ชั่วโมง</a:t>
            </a:r>
          </a:p>
        </p:txBody>
      </p:sp>
      <p:pic>
        <p:nvPicPr>
          <p:cNvPr id="9" name="Picture 8" descr="diag_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295068"/>
            <a:ext cx="7772400" cy="99938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138160" y="1143000"/>
            <a:ext cx="3840480" cy="53035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1143000"/>
            <a:ext cx="384048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207008"/>
            <a:ext cx="3611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8BFF"/>
                </a:solidFill>
                <a:latin typeface="Sarabun"/>
              </a:rPr>
              <a:t>Downsampling Facts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## Data Volume per Device/Month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Raw 1s: ~205 MB (compressed)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1-min avg: ~3.4 MB (60x smaller)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1-hour avg: ~57 KB (3,600x smaller)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## Flux Task Details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ใช้ mean() aggregate function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Task 1: ทุก 1 ชม. — Raw → 1m bucket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Task 2: ทุก 24 ชม. — 1m → 1h bucket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## Why Flux Tasks not Python Cron?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Built-in InfluxDB engine — ไม่ดึงข้อมูลออกมา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ประหยัด Network I/O และ RAM มหาศาล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ไม่มี Single Point of Failure เพิ่ม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## Free Tier Benefit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1h data 1 ปี = ~680 KB ต่อเครื่อง (ถูกมาก)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137160"/>
            <a:ext cx="640080" cy="5029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1371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Segoe UI"/>
              </a:rPr>
              <a:t>A6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6217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8BFF"/>
                </a:solidFill>
                <a:latin typeface="Segoe UI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Stripe Payment Gateway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132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Sarabun"/>
              </a:rPr>
              <a:t>ขั้นตอนการชำระเงินและ Subscription Renewal แบบ Async Webhook</a:t>
            </a:r>
          </a:p>
        </p:txBody>
      </p:sp>
      <p:pic>
        <p:nvPicPr>
          <p:cNvPr id="9" name="Picture 8" descr="diag_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96214"/>
            <a:ext cx="7772400" cy="459709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138160" y="1143000"/>
            <a:ext cx="3840480" cy="53035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1143000"/>
            <a:ext cx="384048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207008"/>
            <a:ext cx="3611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8BFF"/>
                </a:solidFill>
                <a:latin typeface="Sarabun"/>
              </a:rPr>
              <a:t>Stripe Notes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## ทำไมใช้ Webhook (Async)?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ป้องกันกรณีเน็ตหลุด/ปิดแอประหว่างชำระ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Stripe ยิง event ตรงมาที่ Backend Server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ลูกค้าโดนตัดเงินแล้ว Pro ขึ้นทุกกรณี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## Webhook Events ที่ใช้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checkout.session.completed: จ่ายครั้งแรก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invoice.payment_succeeded: ต่ออายุรายเดือน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invoice.payment_failed: ต่ออายุไม่ผ่าน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## Security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ตรวจ Stripe-Signature header ทุก Webhook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ใช้ stripe.Webhook.construct_event()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## Fees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3.65% + 10 THB ต่อรายการ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Pro 99B: ค่า fee ~13.6B (profit 82.2B)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137160"/>
            <a:ext cx="640080" cy="50292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1371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Segoe UI"/>
              </a:rPr>
              <a:t>A7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6217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C800"/>
                </a:solidFill>
                <a:latin typeface="Segoe UI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Backup &amp; Disaster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132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Sarabun"/>
              </a:rPr>
              <a:t>กลยุทธ์สำรองข้อมูล 3 ชั้น + Cloudflare R2</a:t>
            </a:r>
          </a:p>
        </p:txBody>
      </p:sp>
      <p:pic>
        <p:nvPicPr>
          <p:cNvPr id="9" name="Picture 8" descr="diag_A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42999"/>
            <a:ext cx="5150386" cy="53035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138160" y="1143000"/>
            <a:ext cx="3840480" cy="530352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1143000"/>
            <a:ext cx="3840480" cy="54864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207008"/>
            <a:ext cx="3611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C800"/>
                </a:solidFill>
                <a:latin typeface="Sarabun"/>
              </a:rPr>
              <a:t>Backup Reference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## Layer 1 — Local (every 6h)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influx backup /backups/influx/$(date)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pg_dump powerview_db &gt; pg_backup.sql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## Layer 2 — Remote R2 (daily)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rclone sync /backups r2:powerview-backup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Free: 10 GB/month + zero egress fee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## Layer 3 — VPS Snapshot (weekly)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Hostinger hPanel automated backup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## RTO / RPO Targets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RPO: 6 ชั่วโมง (max data loss)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RTO: 2-4 ชั่วโมง (restore time)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## Restore Steps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1. Spin up new KVM VPS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2. rclone download from R2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3. influx restore + pg_restore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4. Update DNS A record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137160"/>
            <a:ext cx="640080" cy="50292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1371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Segoe UI"/>
              </a:rPr>
              <a:t>A8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6217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D4E8"/>
                </a:solidFill>
                <a:latin typeface="Segoe UI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arabun"/>
              </a:rPr>
              <a:t>Technical Reference — InfluxDB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132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Sarabun"/>
              </a:rPr>
              <a:t>ข้อมูลอ้างอิงทางเทคนิค: InfluxDB Concepts &amp; Sizing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760720" cy="53949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760720" cy="54864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261872"/>
            <a:ext cx="5550407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E8"/>
                </a:solidFill>
                <a:latin typeface="Sarabun"/>
              </a:rPr>
              <a:t>InfluxDB Key Concepts</a:t>
            </a:r>
          </a:p>
          <a:p>
            <a:r>
              <a:rPr sz="1300" b="1">
                <a:solidFill>
                  <a:srgbClr val="00D4E8"/>
                </a:solidFill>
              </a:rPr>
              <a:t> Measurement &amp; Fields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Measurement = Table: electricity_usage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Tag: device_id (indexed, low cardinality)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Fields: 33 float64 values (not indexed)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Timestamp: nanosecond precision</a:t>
            </a:r>
          </a:p>
          <a:p>
            <a:r>
              <a:t/>
            </a:r>
          </a:p>
          <a:p>
            <a:r>
              <a:rPr sz="1300" b="1">
                <a:solidFill>
                  <a:srgbClr val="00D4E8"/>
                </a:solidFill>
              </a:rPr>
              <a:t> TSM Engine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WAL (Write-Ahead Log): durability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In-memory Cache: fast reads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TSM Files: compressed on disk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Shard: data file by time range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Shard Drop: delete whole file = zero CPU</a:t>
            </a:r>
          </a:p>
          <a:p>
            <a:r>
              <a:t/>
            </a:r>
          </a:p>
          <a:p>
            <a:r>
              <a:rPr sz="1300" b="1">
                <a:solidFill>
                  <a:srgbClr val="00D4E8"/>
                </a:solidFill>
              </a:rPr>
              <a:t> Retention Policy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Set per-bucket, not per-measurement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Cannot set per device/tag (จึงต้องแยก Bucket)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Gorilla compression: ~3x float reduction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Delta encoding: ~8x timestamp reduction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79" y="1188720"/>
            <a:ext cx="5760720" cy="53949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79" y="1188720"/>
            <a:ext cx="576072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7" y="1261872"/>
            <a:ext cx="5550407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E596"/>
                </a:solidFill>
                <a:latin typeface="Sarabun"/>
              </a:rPr>
              <a:t>Sizing at Scale</a:t>
            </a:r>
          </a:p>
          <a:p>
            <a:r>
              <a:rPr sz="1300" b="1">
                <a:solidFill>
                  <a:srgbClr val="00E596"/>
                </a:solidFill>
              </a:rPr>
              <a:t> Storage per Device/Month (compressed)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Free tier (7d raw): ~47.8 MB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Pro tier (90d raw): ~612 MB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Enterprise (365d raw): ~2.46 GB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1-min 30d: ~3.4 MB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1-hour 1yr: ~680 KB</a:t>
            </a:r>
          </a:p>
          <a:p>
            <a:r>
              <a:t/>
            </a:r>
          </a:p>
          <a:p>
            <a:r>
              <a:rPr sz="1300" b="1">
                <a:solidFill>
                  <a:srgbClr val="00E596"/>
                </a:solidFill>
              </a:rPr>
              <a:t> VPS RAM Usage (InfluxDB)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Series Cardinality = device_count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1,000 devices: ~800 MB RAM for index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10,000 devices: ~4 GB RAM for index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9 Buckets overhead: negligible (KB)</a:t>
            </a:r>
          </a:p>
          <a:p>
            <a:r>
              <a:t/>
            </a:r>
          </a:p>
          <a:p>
            <a:r>
              <a:rPr sz="1300" b="1">
                <a:solidFill>
                  <a:srgbClr val="00E596"/>
                </a:solidFill>
              </a:rPr>
              <a:t> Write Throughput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Telegraf batch: 1000 points/write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100 devices x 33 fields = 3,300 pts/s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KVM 2 limit: ~100,000 pts/s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Well within capacity at 1,000 devices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137160"/>
            <a:ext cx="640080" cy="50292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1371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Segoe UI"/>
              </a:rPr>
              <a:t>A9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6217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C800"/>
                </a:solidFill>
                <a:latin typeface="Segoe UI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API &amp; Flux Query 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132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Sarabun"/>
              </a:rPr>
              <a:t>ตัวอย่าง Flux Query และ API Endpoint ที่สำคัญ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760720" cy="53949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76072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261872"/>
            <a:ext cx="5550407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8BFF"/>
                </a:solidFill>
                <a:latin typeface="Sarabun"/>
              </a:rPr>
              <a:t>Flux Query Patterns</a:t>
            </a:r>
          </a:p>
          <a:p>
            <a:r>
              <a:rPr sz="1300" b="1">
                <a:solidFill>
                  <a:srgbClr val="008BFF"/>
                </a:solidFill>
              </a:rPr>
              <a:t> Basic Query (Free Tier)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from(bucket:"power_data_free")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  |&gt; range(start: -7d)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  |&gt; filter(fn:(r) =&gt; r.device_id == "DEV-001")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  |&gt; filter(fn:(r) =&gt; r._field == "active_power_total")</a:t>
            </a:r>
          </a:p>
          <a:p>
            <a:r>
              <a:t/>
            </a:r>
          </a:p>
          <a:p>
            <a:r>
              <a:rPr sz="1300" b="1">
                <a:solidFill>
                  <a:srgbClr val="008BFF"/>
                </a:solidFill>
              </a:rPr>
              <a:t> Union Query (Seamless Graph)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data_free = from(bucket:"power_data_free")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  |&gt; range(start: -7d)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  |&gt; filter(fn:(r) =&gt; r.device_id == id)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data_pro = from(bucket:"power_data_pro")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  |&gt; range(start: -7d)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  |&gt; filter(fn:(r) =&gt; r.device_id == id)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union(tables:[data_free, data_pro])</a:t>
            </a:r>
          </a:p>
          <a:p>
            <a:r>
              <a:t/>
            </a:r>
          </a:p>
          <a:p>
            <a:r>
              <a:rPr sz="1300" b="1">
                <a:solidFill>
                  <a:srgbClr val="008BFF"/>
                </a:solidFill>
              </a:rPr>
              <a:t> Billing Calculation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from(bucket:"power_data_free")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  |&gt; range(start: -30d)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  |&gt; filter(fn:(r) =&gt; r._field == "active_power_total")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  |&gt; integral(unit: 1h)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79" y="1188720"/>
            <a:ext cx="5760720" cy="53949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79" y="1188720"/>
            <a:ext cx="5760720" cy="54864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7" y="1261872"/>
            <a:ext cx="5550407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C800"/>
                </a:solidFill>
                <a:latin typeface="Sarabun"/>
              </a:rPr>
              <a:t>Core API Endpoints</a:t>
            </a:r>
          </a:p>
          <a:p>
            <a:r>
              <a:rPr sz="1300" b="1">
                <a:solidFill>
                  <a:srgbClr val="FFC800"/>
                </a:solidFill>
              </a:rPr>
              <a:t> Auth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POST /auth/register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POST /auth/login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GET /auth/google</a:t>
            </a:r>
          </a:p>
          <a:p>
            <a:r>
              <a:t/>
            </a:r>
          </a:p>
          <a:p>
            <a:r>
              <a:rPr sz="1300" b="1">
                <a:solidFill>
                  <a:srgbClr val="FFC800"/>
                </a:solidFill>
              </a:rPr>
              <a:t> Devices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GET /devices — list user devices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GET /devices/{id}/data — sensor history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GET /devices/{id}/realtime — WebSocket</a:t>
            </a:r>
          </a:p>
          <a:p>
            <a:r>
              <a:t/>
            </a:r>
          </a:p>
          <a:p>
            <a:r>
              <a:rPr sz="1300" b="1">
                <a:solidFill>
                  <a:srgbClr val="FFC800"/>
                </a:solidFill>
              </a:rPr>
              <a:t> Billing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POST /billing/checkout-session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GET /billing/subscription/{device_id}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POST /billing/webhook (Stripe)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GET /billing/invoice/{device_id}</a:t>
            </a:r>
          </a:p>
          <a:p>
            <a:r>
              <a:t/>
            </a:r>
          </a:p>
          <a:p>
            <a:r>
              <a:rPr sz="1300" b="1">
                <a:solidFill>
                  <a:srgbClr val="FFC800"/>
                </a:solidFill>
              </a:rPr>
              <a:t> Admin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GET /admin/migration-status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POST /admin/trigger-migration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• GET /health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9728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137160"/>
            <a:ext cx="640080" cy="50292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1371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D1B2A"/>
                </a:solidFill>
                <a:latin typeface="Segoe UI"/>
              </a:rPr>
              <a:t>A10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6217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4D6D"/>
                </a:solidFill>
                <a:latin typeface="Segoe UI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731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arabun"/>
              </a:rPr>
              <a:t>FAQ — คำถามที่พบบ่อย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7132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Sarabun"/>
              </a:rPr>
              <a:t>เตรียมคำตอบสำหรับคำถามจากผู้บริหารและทีมงาน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760720" cy="53949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5760720" cy="54864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261872"/>
            <a:ext cx="5550407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E8"/>
                </a:solidFill>
                <a:latin typeface="Sarabun"/>
              </a:rPr>
              <a:t>คำถามทางธุรกิจ</a:t>
            </a:r>
          </a:p>
          <a:p>
            <a:r>
              <a:rPr sz="1300" b="1">
                <a:solidFill>
                  <a:srgbClr val="00D4E8"/>
                </a:solidFill>
              </a:rPr>
              <a:t> Q: ถ้าลูกค้า Free ใช้งาน 10,000 เครื่อง ขาดทุนไหม?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A: ขาดทุนต้นทุน Storage ~0.40 บาท/เครื่อง/เดือน = 4,000 บาท/เดือน แต่ถือเป็น Customer Acquisition Cost ที่คาดหวัง Conversion Rate 10% เป็น Pro</a:t>
            </a:r>
          </a:p>
          <a:p>
            <a:r>
              <a:t/>
            </a:r>
          </a:p>
          <a:p>
            <a:r>
              <a:rPr sz="1300" b="1">
                <a:solidFill>
                  <a:srgbClr val="00D4E8"/>
                </a:solidFill>
              </a:rPr>
              <a:t> Q: ลูกค้าหยุดจ่ายเงิน จะเห็นข้อมูลเก่าไหม?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A: ไม่เห็นครับ range(start: -7d) ทำหน้าที่ Paywall อัตโนมัติ ข้อมูลเก่ายังอยู่ใน DB แต่ API ไม่ดึงให้</a:t>
            </a:r>
          </a:p>
          <a:p>
            <a:r>
              <a:t/>
            </a:r>
          </a:p>
          <a:p>
            <a:r>
              <a:rPr sz="1300" b="1">
                <a:solidFill>
                  <a:srgbClr val="00D4E8"/>
                </a:solidFill>
              </a:rPr>
              <a:t> Q: ถ้าต่ออายุใหม่ หลังหยุด 40 วัน ข้อมูลหายไหม?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A: หายครับ ข้อมูล 33 วันแรกถูก Free bucket ลบตาม Retention แล้ว กู้ไม่ได้ ซึ่งเป็น Incentive ให้ต่ออายุต่อเนื่อง</a:t>
            </a:r>
          </a:p>
          <a:p>
            <a:r>
              <a:t/>
            </a:r>
          </a:p>
          <a:p>
            <a:r>
              <a:rPr sz="1300" b="1">
                <a:solidFill>
                  <a:srgbClr val="00D4E8"/>
                </a:solidFill>
              </a:rPr>
              <a:t> Q: ราคา Pro 99 บาท ถูกหรือแพงเกินไป?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A: ต้นทุนจริง ~3.20 บาท Margin 96% สามารถทำโปรลดได้ถึง 50-60% ยังมี margin ครับ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79" y="1188720"/>
            <a:ext cx="5760720" cy="5394960"/>
          </a:xfrm>
          <a:prstGeom prst="rect">
            <a:avLst/>
          </a:prstGeom>
          <a:solidFill>
            <a:srgbClr val="16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79" y="1188720"/>
            <a:ext cx="576072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7" y="1261872"/>
            <a:ext cx="5550407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E596"/>
                </a:solidFill>
                <a:latin typeface="Sarabun"/>
              </a:rPr>
              <a:t>คำถามทางเทคนิค</a:t>
            </a:r>
          </a:p>
          <a:p>
            <a:r>
              <a:rPr sz="1300" b="1">
                <a:solidFill>
                  <a:srgbClr val="00E596"/>
                </a:solidFill>
              </a:rPr>
              <a:t> Q: ถ้า Server ล่ม ข้อมูลจะหายไหม?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A: ไม่หายครับ Backup ทุก 6 ชม. ไปที่ Cloudflare R2 RPO = 6 ชั่วโมง RTO = 2-4 ชั่วโมง</a:t>
            </a:r>
          </a:p>
          <a:p>
            <a:r>
              <a:t/>
            </a:r>
          </a:p>
          <a:p>
            <a:r>
              <a:rPr sz="1300" b="1">
                <a:solidFill>
                  <a:srgbClr val="00E596"/>
                </a:solidFill>
              </a:rPr>
              <a:t> Q: InfluxDB รับโหลด 10,000 เครื่องได้ไหม?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A: ได้ครับ Telegraf batching รองรับได้ แต่ต้อง Upgrade VPS เป็น KVM 4 (16GB RAM) เมื่อถึง ~500-1,000 เครื่อง</a:t>
            </a:r>
          </a:p>
          <a:p>
            <a:r>
              <a:t/>
            </a:r>
          </a:p>
          <a:p>
            <a:r>
              <a:rPr sz="1300" b="1">
                <a:solidFill>
                  <a:srgbClr val="00E596"/>
                </a:solidFill>
              </a:rPr>
              <a:t> Q: union() ช้าไหมถ้าถังว่างเปล่า?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A: เร็วมากระดับ millisecond InfluxDB ใช้ Shard index เช็กก่อน ถ้าไม่มีข้อมูลตาม range ก็ return empty ทันที</a:t>
            </a:r>
          </a:p>
          <a:p>
            <a:r>
              <a:t/>
            </a:r>
          </a:p>
          <a:p>
            <a:r>
              <a:rPr sz="1300" b="1">
                <a:solidFill>
                  <a:srgbClr val="00E596"/>
                </a:solidFill>
              </a:rPr>
              <a:t> Q: Background Job ใช้ Library อะไร?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Sarabun"/>
              </a:rPr>
              <a:t>• A: Python = Celery + Redis หรือ RQ (Redis Queue) Node.js = BullMQ รองรับ retry, priority queue, และ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